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07" r:id="rId4"/>
    <p:sldId id="306" r:id="rId5"/>
    <p:sldId id="305" r:id="rId6"/>
    <p:sldId id="304" r:id="rId7"/>
    <p:sldId id="311" r:id="rId8"/>
    <p:sldId id="303" r:id="rId9"/>
    <p:sldId id="309" r:id="rId10"/>
    <p:sldId id="264" r:id="rId11"/>
    <p:sldId id="314" r:id="rId12"/>
    <p:sldId id="266" r:id="rId13"/>
    <p:sldId id="267" r:id="rId14"/>
    <p:sldId id="30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12" r:id="rId35"/>
    <p:sldId id="313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12192000" cy="6858000"/>
  <p:notesSz cx="6858000" cy="9144000"/>
  <p:embeddedFontLst>
    <p:embeddedFont>
      <p:font typeface="Microsoft JhengHei UI Light" pitchFamily="34" charset="-120"/>
      <p:regular r:id="rId50"/>
    </p:embeddedFont>
    <p:embeddedFont>
      <p:font typeface="Calibri" pitchFamily="34" charset="0"/>
      <p:regular r:id="rId51"/>
      <p:bold r:id="rId52"/>
      <p:italic r:id="rId53"/>
      <p:boldItalic r:id="rId54"/>
    </p:embeddedFont>
    <p:embeddedFont>
      <p:font typeface="Garamond" pitchFamily="18" charset="0"/>
      <p:regular r:id="rId55"/>
      <p:bold r:id="rId56"/>
      <p:italic r:id="rId57"/>
    </p:embeddedFont>
    <p:embeddedFont>
      <p:font typeface="SimSun" pitchFamily="2" charset="-122"/>
      <p:regular r:id="rId58"/>
    </p:embeddedFont>
    <p:embeddedFont>
      <p:font typeface="Inter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gDZ8H7cYSX+uBicieh1HIt2zaj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791D69E-18C2-41AF-B516-25AEC0976B42}">
  <a:tblStyle styleId="{E791D69E-18C2-41AF-B516-25AEC0976B42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EF"/>
          </a:solidFill>
        </a:fill>
      </a:tcStyle>
    </a:wholeTbl>
    <a:band1H>
      <a:tcTxStyle/>
      <a:tcStyle>
        <a:tcBdr/>
        <a:fill>
          <a:solidFill>
            <a:srgbClr val="CDD4D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D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82734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168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339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18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550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0138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97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4844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85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7479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151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715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2495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7515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23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330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5511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58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111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2441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7058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6000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223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147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057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9793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6050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5049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842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4258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896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9207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4199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204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6916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45780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8571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38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شريحة عنوان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8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22" name="Google Shape;22;p48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8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" name="Google Shape;24;p48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8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8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8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48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فقط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4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محتوى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5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5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المقطع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3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1" name="Google Shape;61;p53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يين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5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5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قارنة" type="twoTxTwoObj">
  <p:cSld name="TWO_OBJECTS_WITH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55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55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5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5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ى ذو تسمية توضيحية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6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6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5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56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رة مع تسمية توضيحية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7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7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57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5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رة بانورامية مع تسمية توضيحية">
  <p:cSld name="صورة بانورامية مع تسمية توضيحية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8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8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58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9" name="Google Shape;99;p5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العنوان والتسمية التوضيحية">
  <p:cSld name="العنوان والتسمية التوضيحية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9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9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5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59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اقتباس مع تسمية توضيحية">
  <p:cSld name="اقتباس مع تسمية توضيحية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0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0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60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6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6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6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7" name="Google Shape;117;p60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8" name="Google Shape;118;p60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بطاقة اسم ذات اقتباس">
  <p:cSld name="بطاقة اسم ذات اقتباس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1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1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61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6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6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61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61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اب أو خطأ">
  <p:cSld name="صواب أو خطأ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2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2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62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6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6" name="Google Shape;136;p62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نص عمودي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3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3" name="Google Shape;143;p6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عنوان ونص عموديان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4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4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6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0" name="Google Shape;150;p64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7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7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Google Shape;11;p47" descr="HD-PanelContent.png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47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" name="Google Shape;13;p47" descr="HDRibbonContent-UniformTrim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7" descr="HDRibbonContent-UniformTrim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4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4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r" rtl="1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r" rtl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7" name="Google Shape;17;p4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1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l="2960" t="22616" r="5953" b="1336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7016" y="1409111"/>
            <a:ext cx="9602032" cy="4328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17" y="940667"/>
            <a:ext cx="9730059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3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2" y="746527"/>
            <a:ext cx="10370195" cy="53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2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70" y="757752"/>
            <a:ext cx="10236071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38" y="902027"/>
            <a:ext cx="9906859" cy="4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6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34" y="877603"/>
            <a:ext cx="10479932" cy="51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3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54" y="819686"/>
            <a:ext cx="10553091" cy="521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2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391" y="807493"/>
            <a:ext cx="9803218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7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l="3355" t="26768" r="17894" b="17844"/>
          <a:stretch/>
        </p:blipFill>
        <p:spPr>
          <a:xfrm>
            <a:off x="0" y="-1"/>
            <a:ext cx="12192001" cy="685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1" y="604684"/>
            <a:ext cx="10987548" cy="5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67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/>
        </p:nvSpPr>
        <p:spPr>
          <a:xfrm>
            <a:off x="6998371" y="1533073"/>
            <a:ext cx="3842083" cy="73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</a:pPr>
            <a:endParaRPr sz="3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789" y="2723674"/>
            <a:ext cx="5522976" cy="3476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4364" y="2729613"/>
            <a:ext cx="4830095" cy="347640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/>
          <p:nvPr/>
        </p:nvSpPr>
        <p:spPr>
          <a:xfrm>
            <a:off x="7602210" y="1074484"/>
            <a:ext cx="3165085" cy="96449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0B0F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B0F70"/>
                </a:solidFill>
                <a:latin typeface="Arial"/>
                <a:ea typeface="Arial"/>
                <a:cs typeface="Arial"/>
                <a:sym typeface="Arial"/>
              </a:rPr>
              <a:t>10 variables</a:t>
            </a:r>
            <a:endParaRPr/>
          </a:p>
          <a:p>
            <a:pPr marL="0" marR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Qualitative only</a:t>
            </a:r>
            <a:endParaRPr/>
          </a:p>
          <a:p>
            <a:pPr marL="0" marR="0" lvl="0" indent="0" algn="ctr" rtl="1">
              <a:spcBef>
                <a:spcPts val="100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60621" y="2044211"/>
            <a:ext cx="3048264" cy="49381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1483115" y="1079380"/>
            <a:ext cx="3344778" cy="10347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B0F70"/>
                </a:solidFill>
                <a:latin typeface="Arial"/>
                <a:ea typeface="Arial"/>
                <a:cs typeface="Arial"/>
                <a:sym typeface="Arial"/>
              </a:rPr>
              <a:t>16 variable</a:t>
            </a:r>
            <a:endParaRPr/>
          </a:p>
          <a:p>
            <a:pPr marL="0" marR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Qualitative &amp; Quantitative</a:t>
            </a:r>
            <a:endParaRPr/>
          </a:p>
          <a:p>
            <a:pPr marL="0" marR="0" lvl="0" indent="0" algn="r" rtl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1372" y="2119246"/>
            <a:ext cx="3048264" cy="49381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 txBox="1"/>
          <p:nvPr/>
        </p:nvSpPr>
        <p:spPr>
          <a:xfrm>
            <a:off x="3963692" y="1906057"/>
            <a:ext cx="4502719" cy="601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0F70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the </a:t>
            </a:r>
            <a:endParaRPr/>
          </a:p>
          <a:p>
            <a:pPr marL="0" marR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 Analysis</a:t>
            </a:r>
            <a:endParaRPr sz="2000" b="1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161308" y="4827319"/>
            <a:ext cx="190005" cy="249382"/>
          </a:xfrm>
          <a:prstGeom prst="flowChartConnector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602210" y="4678878"/>
            <a:ext cx="159387" cy="240474"/>
          </a:xfrm>
          <a:prstGeom prst="flowChartConnector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2"/>
          <p:cNvGraphicFramePr/>
          <p:nvPr/>
        </p:nvGraphicFramePr>
        <p:xfrm>
          <a:off x="2000464" y="1155604"/>
          <a:ext cx="7721825" cy="5029200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993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981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302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Factors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Proportion of variance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Cumulative proportion of variance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2C7153"/>
                          </a:solidFill>
                        </a:rPr>
                        <a:t>0.49</a:t>
                      </a:r>
                      <a:endParaRPr sz="2000" b="1" i="0" u="none" strike="noStrike" cap="none">
                        <a:solidFill>
                          <a:srgbClr val="2C715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2C7153"/>
                          </a:solidFill>
                        </a:rPr>
                        <a:t>0.49</a:t>
                      </a:r>
                      <a:endParaRPr sz="2000" b="1" i="0" u="none" strike="noStrike" cap="none">
                        <a:solidFill>
                          <a:srgbClr val="2C715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2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0.13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0.62</a:t>
                      </a:r>
                      <a:endParaRPr sz="4000" b="1" u="none" strike="noStrike" cap="none">
                        <a:solidFill>
                          <a:srgbClr val="0B0F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3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0.72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0.81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0.89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6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0.93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0.97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8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0.99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9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1.00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8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Factor 10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1.00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4" name="Google Shape;274;p12"/>
          <p:cNvSpPr/>
          <p:nvPr/>
        </p:nvSpPr>
        <p:spPr>
          <a:xfrm>
            <a:off x="1804736" y="455949"/>
            <a:ext cx="8113295" cy="66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extracted factors from data.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5712031" y="1745673"/>
            <a:ext cx="510639" cy="249382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 txBox="1">
            <a:spLocks/>
          </p:cNvSpPr>
          <p:nvPr/>
        </p:nvSpPr>
        <p:spPr>
          <a:xfrm>
            <a:off x="1022686" y="726122"/>
            <a:ext cx="4223084" cy="1439562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>
              <a:lnSpc>
                <a:spcPct val="120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0B0F70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rPr>
              <a:t>Normalization Technique:</a:t>
            </a: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81" y="1081788"/>
            <a:ext cx="7492404" cy="909862"/>
          </a:xfrm>
          <a:prstGeom prst="rect">
            <a:avLst/>
          </a:prstGeom>
        </p:spPr>
      </p:pic>
      <p:sp>
        <p:nvSpPr>
          <p:cNvPr id="7" name="عنوان 1"/>
          <p:cNvSpPr txBox="1">
            <a:spLocks/>
          </p:cNvSpPr>
          <p:nvPr/>
        </p:nvSpPr>
        <p:spPr>
          <a:xfrm>
            <a:off x="2137605" y="5059196"/>
            <a:ext cx="7511719" cy="149067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>
              <a:lnSpc>
                <a:spcPct val="120000"/>
              </a:lnSpc>
              <a:spcAft>
                <a:spcPts val="1000"/>
              </a:spcAft>
            </a:pPr>
            <a:endParaRPr lang="en-US" sz="6000" b="1" dirty="0">
              <a:solidFill>
                <a:srgbClr val="00B050"/>
              </a:solidFill>
              <a:latin typeface="Microsoft JhengHei UI Light" panose="020B0304030504040204" pitchFamily="34" charset="-120"/>
              <a:ea typeface="Microsoft JhengHei UI Light" panose="020B0304030504040204" pitchFamily="34" charset="-120"/>
              <a:cs typeface="+mn-cs"/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911386" y="5245771"/>
            <a:ext cx="10571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The closer the DTI value to 1, the more digitally transformed the enterprise is.</a:t>
            </a:r>
            <a:endParaRPr lang="ar-EG" sz="2400" b="1" dirty="0"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33" y="2191949"/>
            <a:ext cx="8370533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56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4"/>
          <p:cNvPicPr preferRelativeResize="0"/>
          <p:nvPr/>
        </p:nvPicPr>
        <p:blipFill rotWithShape="1">
          <a:blip r:embed="rId3">
            <a:alphaModFix/>
          </a:blip>
          <a:srcRect t="6596"/>
          <a:stretch/>
        </p:blipFill>
        <p:spPr>
          <a:xfrm>
            <a:off x="1217543" y="1213060"/>
            <a:ext cx="4756537" cy="187151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1979036" y="751395"/>
            <a:ext cx="30315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of the DTI</a:t>
            </a:r>
            <a:endParaRPr sz="2400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291" name="Google Shape;291;p14"/>
          <p:cNvGraphicFramePr/>
          <p:nvPr/>
        </p:nvGraphicFramePr>
        <p:xfrm>
          <a:off x="6538156" y="1470168"/>
          <a:ext cx="4504550" cy="1162125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2251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526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87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Test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/>
                        <a:t>P-Value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7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Mardia Skewness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0.000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7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Mardia Kurtosis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0.000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2" name="Google Shape;292;p14"/>
          <p:cNvSpPr/>
          <p:nvPr/>
        </p:nvSpPr>
        <p:spPr>
          <a:xfrm>
            <a:off x="6371706" y="751394"/>
            <a:ext cx="45064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the normality of the DTI</a:t>
            </a:r>
            <a:endParaRPr sz="2400" b="1">
              <a:solidFill>
                <a:srgbClr val="0B0F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14"/>
          <p:cNvPicPr preferRelativeResize="0"/>
          <p:nvPr/>
        </p:nvPicPr>
        <p:blipFill rotWithShape="1">
          <a:blip r:embed="rId4">
            <a:alphaModFix/>
          </a:blip>
          <a:srcRect t="7453"/>
          <a:stretch/>
        </p:blipFill>
        <p:spPr>
          <a:xfrm>
            <a:off x="841248" y="3650438"/>
            <a:ext cx="10533888" cy="25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/>
          <p:nvPr/>
        </p:nvSpPr>
        <p:spPr>
          <a:xfrm>
            <a:off x="2987040" y="3198167"/>
            <a:ext cx="6217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Boxplots of DTI by country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5"/>
          <p:cNvPicPr preferRelativeResize="0"/>
          <p:nvPr/>
        </p:nvPicPr>
        <p:blipFill rotWithShape="1">
          <a:blip r:embed="rId3">
            <a:alphaModFix/>
          </a:blip>
          <a:srcRect l="3454" t="26686" r="17696" b="17927"/>
          <a:stretch/>
        </p:blipFill>
        <p:spPr>
          <a:xfrm>
            <a:off x="-66735" y="-24064"/>
            <a:ext cx="12246703" cy="688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1119715" y="3005621"/>
            <a:ext cx="233334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determine the number of clusters:</a:t>
            </a:r>
            <a:endParaRPr sz="2800">
              <a:solidFill>
                <a:srgbClr val="151515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305" name="Google Shape;3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2100" y="1949944"/>
            <a:ext cx="5738228" cy="388174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 txBox="1"/>
          <p:nvPr/>
        </p:nvSpPr>
        <p:spPr>
          <a:xfrm>
            <a:off x="803755" y="954351"/>
            <a:ext cx="8359750" cy="73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None/>
            </a:pPr>
            <a:endParaRPr sz="2800" cap="none">
              <a:solidFill>
                <a:srgbClr val="0B0F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803755" y="996202"/>
            <a:ext cx="10174707" cy="461665"/>
          </a:xfrm>
          <a:prstGeom prst="rect">
            <a:avLst/>
          </a:prstGeom>
          <a:solidFill>
            <a:srgbClr val="0B0F7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enterprises according to their performance in digital transformation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5614296" y="3698118"/>
            <a:ext cx="276812" cy="291991"/>
          </a:xfrm>
          <a:prstGeom prst="flowChartConnector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/>
          <p:nvPr/>
        </p:nvSpPr>
        <p:spPr>
          <a:xfrm>
            <a:off x="6603327" y="1632981"/>
            <a:ext cx="3645569" cy="108842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B0F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10 variables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Qualitative only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739619" y="1645011"/>
            <a:ext cx="3734433" cy="103471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B0F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16 variable</a:t>
            </a:r>
            <a:endParaRPr/>
          </a:p>
          <a:p>
            <a:pPr marL="0" marR="0" lvl="0" indent="0"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Qualitative &amp; Quantitative</a:t>
            </a:r>
            <a:endParaRPr/>
          </a:p>
          <a:p>
            <a:pPr marL="0" marR="0" lvl="0" indent="0" algn="r" rtl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629644" y="2721406"/>
            <a:ext cx="1954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K-means</a:t>
            </a:r>
            <a:endParaRPr sz="2400" b="1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7558576" y="2709375"/>
            <a:ext cx="195438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K-modes</a:t>
            </a:r>
            <a:endParaRPr sz="2400" b="1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317" name="Google Shape;317;p17"/>
          <p:cNvGraphicFramePr/>
          <p:nvPr/>
        </p:nvGraphicFramePr>
        <p:xfrm>
          <a:off x="2256664" y="3612366"/>
          <a:ext cx="7504075" cy="1874050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3366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68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686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9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Metric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 variables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 variables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4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WCSS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3607.55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23.42736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BCSS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4974.05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20810.57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2F2F2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Average Silhouette Score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0.2365883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0.278708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" name="Google Shape;322;p18"/>
          <p:cNvGraphicFramePr/>
          <p:nvPr/>
        </p:nvGraphicFramePr>
        <p:xfrm>
          <a:off x="2069432" y="1359568"/>
          <a:ext cx="7664100" cy="4754880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403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170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170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30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Variable 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Cluster 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Cluster 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Having website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Listing in apps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Online purchase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Online sales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Having online sales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Online inputs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Using smartphones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Digital skills for workers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IT person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Social media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3" name="Google Shape;323;p18"/>
          <p:cNvSpPr/>
          <p:nvPr/>
        </p:nvSpPr>
        <p:spPr>
          <a:xfrm>
            <a:off x="6130560" y="856510"/>
            <a:ext cx="16017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C71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Digitalized</a:t>
            </a:r>
            <a:endParaRPr sz="2400" b="1">
              <a:solidFill>
                <a:srgbClr val="2C715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732282" y="856510"/>
            <a:ext cx="21836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Not-Digitalized</a:t>
            </a:r>
            <a:endParaRPr sz="2400" b="1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19"/>
          <p:cNvGraphicFramePr/>
          <p:nvPr/>
        </p:nvGraphicFramePr>
        <p:xfrm>
          <a:off x="1856957" y="1129969"/>
          <a:ext cx="8478075" cy="2743200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2121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227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218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116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Reference (True)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Total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67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Predicted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B050"/>
                          </a:solidFill>
                        </a:rPr>
                        <a:t>Digitalized</a:t>
                      </a:r>
                      <a:endParaRPr sz="1800" b="1" u="none" strike="noStrike" cap="non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Not digitalized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Digitalized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99 </a:t>
                      </a: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(99%)</a:t>
                      </a:r>
                      <a:endParaRPr/>
                    </a:p>
                  </a:txBody>
                  <a:tcPr marL="68575" marR="68575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 (5.4%)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109 (38.25%)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Not digitalized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 (1%)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175 </a:t>
                      </a: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(94.6%)</a:t>
                      </a:r>
                      <a:endParaRPr/>
                    </a:p>
                  </a:txBody>
                  <a:tcPr marL="68575" marR="68575" marT="0" marB="0">
                    <a:solidFill>
                      <a:srgbClr val="D47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176 (61.75%)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(100%)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185 (100%)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285 (100%)</a:t>
                      </a:r>
                      <a:endParaRPr dirty="0"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0" name="Google Shape;330;p19"/>
          <p:cNvSpPr/>
          <p:nvPr/>
        </p:nvSpPr>
        <p:spPr>
          <a:xfrm>
            <a:off x="1304038" y="468762"/>
            <a:ext cx="9774407" cy="66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Validation using the discriminant correspondence analysis</a:t>
            </a:r>
            <a:endParaRPr dirty="0"/>
          </a:p>
        </p:txBody>
      </p:sp>
      <p:sp>
        <p:nvSpPr>
          <p:cNvPr id="331" name="Google Shape;331;p19"/>
          <p:cNvSpPr/>
          <p:nvPr/>
        </p:nvSpPr>
        <p:spPr>
          <a:xfrm>
            <a:off x="621791" y="4255007"/>
            <a:ext cx="2337977" cy="1636563"/>
          </a:xfrm>
          <a:prstGeom prst="cloudCallout">
            <a:avLst>
              <a:gd name="adj1" fmla="val -68797"/>
              <a:gd name="adj2" fmla="val 52207"/>
            </a:avLst>
          </a:prstGeom>
          <a:solidFill>
            <a:srgbClr val="92D050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Sensitivity = 99% </a:t>
            </a:r>
            <a:endParaRPr dirty="0"/>
          </a:p>
        </p:txBody>
      </p:sp>
      <p:sp>
        <p:nvSpPr>
          <p:cNvPr id="332" name="Google Shape;332;p19"/>
          <p:cNvSpPr/>
          <p:nvPr/>
        </p:nvSpPr>
        <p:spPr>
          <a:xfrm>
            <a:off x="4478596" y="4087295"/>
            <a:ext cx="3645408" cy="1636563"/>
          </a:xfrm>
          <a:prstGeom prst="cloudCallout">
            <a:avLst>
              <a:gd name="adj1" fmla="val 290"/>
              <a:gd name="adj2" fmla="val 79409"/>
            </a:avLst>
          </a:prstGeom>
          <a:solidFill>
            <a:schemeClr val="lt2"/>
          </a:solidFill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Accuracy = 96.1%</a:t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9372600" y="4255006"/>
            <a:ext cx="2197609" cy="1636563"/>
          </a:xfrm>
          <a:prstGeom prst="cloudCallout">
            <a:avLst>
              <a:gd name="adj1" fmla="val 61003"/>
              <a:gd name="adj2" fmla="val 42650"/>
            </a:avLst>
          </a:prstGeom>
          <a:solidFill>
            <a:srgbClr val="D47E76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Specificity= 94.6%</a:t>
            </a:r>
            <a:endParaRPr/>
          </a:p>
        </p:txBody>
      </p:sp>
      <p:cxnSp>
        <p:nvCxnSpPr>
          <p:cNvPr id="334" name="Google Shape;334;p19"/>
          <p:cNvCxnSpPr/>
          <p:nvPr/>
        </p:nvCxnSpPr>
        <p:spPr>
          <a:xfrm flipH="1">
            <a:off x="2893485" y="2602993"/>
            <a:ext cx="2706600" cy="1950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5" name="Google Shape;335;p19"/>
          <p:cNvCxnSpPr/>
          <p:nvPr/>
        </p:nvCxnSpPr>
        <p:spPr>
          <a:xfrm>
            <a:off x="7522309" y="3105077"/>
            <a:ext cx="2036100" cy="19752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0"/>
          <p:cNvPicPr preferRelativeResize="0"/>
          <p:nvPr/>
        </p:nvPicPr>
        <p:blipFill rotWithShape="1">
          <a:blip r:embed="rId3">
            <a:alphaModFix/>
          </a:blip>
          <a:srcRect l="35424" t="31699" r="41046" b="47747"/>
          <a:stretch/>
        </p:blipFill>
        <p:spPr>
          <a:xfrm>
            <a:off x="3092215" y="2432183"/>
            <a:ext cx="5702868" cy="295796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0"/>
          <p:cNvSpPr/>
          <p:nvPr/>
        </p:nvSpPr>
        <p:spPr>
          <a:xfrm>
            <a:off x="1704522" y="958063"/>
            <a:ext cx="847825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applying the cluster analysis, enterprises are clustered into two categories, as follows: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1"/>
          <p:cNvPicPr preferRelativeResize="0"/>
          <p:nvPr/>
        </p:nvPicPr>
        <p:blipFill rotWithShape="1">
          <a:blip r:embed="rId3">
            <a:alphaModFix/>
          </a:blip>
          <a:srcRect l="3652" t="27056" r="17796" b="17680"/>
          <a:stretch/>
        </p:blipFill>
        <p:spPr>
          <a:xfrm>
            <a:off x="1" y="0"/>
            <a:ext cx="12192000" cy="686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/>
        </p:nvSpPr>
        <p:spPr>
          <a:xfrm>
            <a:off x="2815388" y="818148"/>
            <a:ext cx="636470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type of sector</a:t>
            </a:r>
            <a:endParaRPr sz="3200" b="1">
              <a:solidFill>
                <a:srgbClr val="0B0F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" name="Google Shape;3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6955" y="1402923"/>
            <a:ext cx="7462151" cy="4682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3"/>
          <p:cNvPicPr preferRelativeResize="0"/>
          <p:nvPr/>
        </p:nvPicPr>
        <p:blipFill rotWithShape="1">
          <a:blip r:embed="rId3">
            <a:alphaModFix/>
          </a:blip>
          <a:srcRect l="7364" t="16890" r="8131" b="2047"/>
          <a:stretch/>
        </p:blipFill>
        <p:spPr>
          <a:xfrm>
            <a:off x="826884" y="1732547"/>
            <a:ext cx="10463736" cy="412683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 txBox="1"/>
          <p:nvPr/>
        </p:nvSpPr>
        <p:spPr>
          <a:xfrm>
            <a:off x="3007895" y="733926"/>
            <a:ext cx="636470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Garamond"/>
                <a:ea typeface="Garamond"/>
                <a:cs typeface="Garamond"/>
                <a:sym typeface="Garamond"/>
              </a:rPr>
              <a:t> The Distribution of the DTI by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Garamond"/>
                <a:ea typeface="Garamond"/>
                <a:cs typeface="Garamond"/>
                <a:sym typeface="Garamond"/>
              </a:rPr>
              <a:t> Human Capital</a:t>
            </a:r>
            <a:endParaRPr sz="2800" b="1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4"/>
          <p:cNvPicPr preferRelativeResize="0"/>
          <p:nvPr/>
        </p:nvPicPr>
        <p:blipFill rotWithShape="1">
          <a:blip r:embed="rId3">
            <a:alphaModFix/>
          </a:blip>
          <a:srcRect l="12920" t="15615" r="12795" b="2033"/>
          <a:stretch/>
        </p:blipFill>
        <p:spPr>
          <a:xfrm>
            <a:off x="830179" y="1600200"/>
            <a:ext cx="10465721" cy="447574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 txBox="1"/>
          <p:nvPr/>
        </p:nvSpPr>
        <p:spPr>
          <a:xfrm>
            <a:off x="3007895" y="733926"/>
            <a:ext cx="636470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Garamond"/>
                <a:ea typeface="Garamond"/>
                <a:cs typeface="Garamond"/>
                <a:sym typeface="Garamond"/>
              </a:rPr>
              <a:t> The Distribution of the DTI by 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Garamond"/>
                <a:ea typeface="Garamond"/>
                <a:cs typeface="Garamond"/>
                <a:sym typeface="Garamond"/>
              </a:rPr>
              <a:t>the sex of the owner</a:t>
            </a:r>
            <a:endParaRPr sz="2800" b="1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6"/>
          <p:cNvPicPr preferRelativeResize="0"/>
          <p:nvPr/>
        </p:nvPicPr>
        <p:blipFill rotWithShape="1">
          <a:blip r:embed="rId3">
            <a:alphaModFix/>
          </a:blip>
          <a:srcRect l="2067" t="14435" r="4295" b="1145"/>
          <a:stretch/>
        </p:blipFill>
        <p:spPr>
          <a:xfrm>
            <a:off x="836306" y="1688033"/>
            <a:ext cx="10517647" cy="447574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3007895" y="733926"/>
            <a:ext cx="636470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Garamond"/>
                <a:ea typeface="Garamond"/>
                <a:cs typeface="Garamond"/>
                <a:sym typeface="Garamond"/>
              </a:rPr>
              <a:t> The Distribution of the DTI by the percentage of educated workers</a:t>
            </a:r>
            <a:endParaRPr sz="2800" b="1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7"/>
          <p:cNvPicPr preferRelativeResize="0"/>
          <p:nvPr/>
        </p:nvPicPr>
        <p:blipFill rotWithShape="1">
          <a:blip r:embed="rId3">
            <a:alphaModFix/>
          </a:blip>
          <a:srcRect l="3552" t="26932" r="17894" b="18050"/>
          <a:stretch/>
        </p:blipFill>
        <p:spPr>
          <a:xfrm>
            <a:off x="-47837" y="0"/>
            <a:ext cx="122398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98" y="911134"/>
            <a:ext cx="10004403" cy="50357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96" y="1212104"/>
            <a:ext cx="9809314" cy="45541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73" y="755672"/>
            <a:ext cx="9565453" cy="53466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سحابة 2"/>
          <p:cNvSpPr/>
          <p:nvPr/>
        </p:nvSpPr>
        <p:spPr>
          <a:xfrm>
            <a:off x="583061" y="4387351"/>
            <a:ext cx="2286000" cy="1684421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kern="100" dirty="0" smtClean="0">
              <a:solidFill>
                <a:schemeClr val="tx1"/>
              </a:solidFill>
            </a:endParaRPr>
          </a:p>
          <a:p>
            <a:pPr algn="ctr"/>
            <a:endParaRPr lang="ar-EG" dirty="0"/>
          </a:p>
        </p:txBody>
      </p:sp>
      <p:sp>
        <p:nvSpPr>
          <p:cNvPr id="4" name="مستطيل 3"/>
          <p:cNvSpPr/>
          <p:nvPr/>
        </p:nvSpPr>
        <p:spPr>
          <a:xfrm>
            <a:off x="6626218" y="917362"/>
            <a:ext cx="3792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The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c</a:t>
            </a:r>
            <a:r>
              <a:rPr 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lassification table</a:t>
            </a:r>
            <a:endParaRPr lang="ar-EG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graphicFrame>
        <p:nvGraphicFramePr>
          <p:cNvPr id="5" name="جدول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499025"/>
              </p:ext>
            </p:extLst>
          </p:nvPr>
        </p:nvGraphicFramePr>
        <p:xfrm>
          <a:off x="1058779" y="1733577"/>
          <a:ext cx="10178715" cy="219456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726829"/>
                <a:gridCol w="2490467"/>
                <a:gridCol w="3223990"/>
                <a:gridCol w="1737429"/>
              </a:tblGrid>
              <a:tr h="407257">
                <a:tc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Garamond" panose="02020404030301010803" pitchFamily="18" charset="0"/>
                        </a:rPr>
                        <a:t> </a:t>
                      </a:r>
                      <a:endParaRPr lang="en-US" sz="80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Garamond" panose="02020404030301010803" pitchFamily="18" charset="0"/>
                        </a:rPr>
                        <a:t>True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Garamond" panose="02020404030301010803" pitchFamily="18" charset="0"/>
                        </a:rPr>
                        <a:t>Total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414099">
                <a:tc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Garamond" panose="02020404030301010803" pitchFamily="18" charset="0"/>
                        </a:rPr>
                        <a:t>Predicted (classified)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00" dirty="0">
                          <a:effectLst/>
                          <a:latin typeface="Garamond" panose="02020404030301010803" pitchFamily="18" charset="0"/>
                        </a:rPr>
                        <a:t>Digitalized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00" dirty="0">
                          <a:effectLst/>
                          <a:latin typeface="Garamond" panose="02020404030301010803" pitchFamily="18" charset="0"/>
                        </a:rPr>
                        <a:t>Not digitalized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</a:tr>
              <a:tr h="385010">
                <a:tc>
                  <a:txBody>
                    <a:bodyPr/>
                    <a:lstStyle/>
                    <a:p>
                      <a:pPr marL="0" algn="ctr" defTabSz="457200" rtl="1" eaLnBrk="1" latinLnBrk="0" hangingPunct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Garamond" panose="02020404030301010803" pitchFamily="18" charset="0"/>
                        </a:rPr>
                        <a:t>Digitalized</a:t>
                      </a:r>
                      <a:endParaRPr lang="en-US" sz="2400" b="1" kern="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Garamond" panose="02020404030301010803" pitchFamily="18" charset="0"/>
                        </a:rPr>
                        <a:t>226 (68.7%)</a:t>
                      </a: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 </a:t>
                      </a:r>
                      <a:endParaRPr lang="en-US" sz="2400" b="1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181 (29.25%)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407 (42.9%)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80018">
                <a:tc>
                  <a:txBody>
                    <a:bodyPr/>
                    <a:lstStyle/>
                    <a:p>
                      <a:pPr marL="0" algn="ctr" defTabSz="457200" rtl="1" eaLnBrk="1" latinLnBrk="0" hangingPunct="1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Garamond" panose="02020404030301010803" pitchFamily="18" charset="0"/>
                        </a:rPr>
                        <a:t>Not digitalized</a:t>
                      </a:r>
                      <a:endParaRPr lang="en-US" sz="2400" b="1" kern="100" dirty="0">
                        <a:solidFill>
                          <a:srgbClr val="C00000"/>
                        </a:solidFill>
                        <a:effectLst/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103 (31.3%)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Garamond" panose="02020404030301010803" pitchFamily="18" charset="0"/>
                        </a:rPr>
                        <a:t>438 (70.75%)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D47F7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541 (57.1%)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41210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510" algn="l"/>
                          <a:tab pos="661035" algn="ctr"/>
                        </a:tabLst>
                      </a:pPr>
                      <a:r>
                        <a:rPr lang="en-US" sz="2400" kern="100" dirty="0">
                          <a:effectLst/>
                          <a:latin typeface="Garamond" panose="02020404030301010803" pitchFamily="18" charset="0"/>
                        </a:rPr>
                        <a:t>		Total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329 (100%) 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619 (100%)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Garamond" panose="02020404030301010803" pitchFamily="18" charset="0"/>
                        </a:rPr>
                        <a:t>948 (100%)</a:t>
                      </a:r>
                      <a:endParaRPr lang="en-US" sz="1800" b="0" kern="100" dirty="0">
                        <a:effectLst/>
                        <a:latin typeface="Garamond" panose="02020404030301010803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مستطيل 5"/>
          <p:cNvSpPr/>
          <p:nvPr/>
        </p:nvSpPr>
        <p:spPr>
          <a:xfrm>
            <a:off x="1075195" y="917362"/>
            <a:ext cx="462777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B0F70"/>
                </a:solidFill>
                <a:latin typeface="Garamond" panose="02020404030301010803" pitchFamily="18" charset="0"/>
              </a:rPr>
              <a:t>The </a:t>
            </a:r>
            <a:r>
              <a:rPr lang="en-US" sz="2400" b="1" dirty="0">
                <a:solidFill>
                  <a:srgbClr val="0B0F70"/>
                </a:solidFill>
                <a:latin typeface="Garamond" panose="02020404030301010803" pitchFamily="18" charset="0"/>
              </a:rPr>
              <a:t>goodness of fit for the </a:t>
            </a:r>
            <a:r>
              <a:rPr lang="en-US" sz="2400" b="1" dirty="0" smtClean="0">
                <a:solidFill>
                  <a:srgbClr val="0B0F70"/>
                </a:solidFill>
                <a:latin typeface="Garamond" panose="02020404030301010803" pitchFamily="18" charset="0"/>
              </a:rPr>
              <a:t>model:</a:t>
            </a:r>
            <a:endParaRPr lang="ar-EG" sz="2400" b="1" dirty="0">
              <a:solidFill>
                <a:srgbClr val="0B0F70"/>
              </a:solidFill>
              <a:latin typeface="Garamond" panose="02020404030301010803" pitchFamily="18" charset="0"/>
            </a:endParaRPr>
          </a:p>
        </p:txBody>
      </p:sp>
      <p:cxnSp>
        <p:nvCxnSpPr>
          <p:cNvPr id="7" name="Connector: Elbow 5">
            <a:extLst>
              <a:ext uri="{FF2B5EF4-FFF2-40B4-BE49-F238E27FC236}">
                <a16:creationId xmlns="" xmlns:a16="http://schemas.microsoft.com/office/drawing/2014/main" id="{7EF39843-E031-C471-E8F5-375CBC28E3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50695" y="2959765"/>
            <a:ext cx="1973180" cy="175275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13">
            <a:extLst>
              <a:ext uri="{FF2B5EF4-FFF2-40B4-BE49-F238E27FC236}">
                <a16:creationId xmlns="" xmlns:a16="http://schemas.microsoft.com/office/drawing/2014/main" id="{121317A7-FE4E-A977-958C-F7944828016A}"/>
              </a:ext>
            </a:extLst>
          </p:cNvPr>
          <p:cNvCxnSpPr/>
          <p:nvPr/>
        </p:nvCxnSpPr>
        <p:spPr>
          <a:xfrm>
            <a:off x="8289758" y="3344777"/>
            <a:ext cx="1525124" cy="11993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سحابة 8"/>
          <p:cNvSpPr/>
          <p:nvPr/>
        </p:nvSpPr>
        <p:spPr>
          <a:xfrm>
            <a:off x="9463059" y="4387351"/>
            <a:ext cx="2286000" cy="1684421"/>
          </a:xfrm>
          <a:prstGeom prst="cloud">
            <a:avLst/>
          </a:prstGeom>
          <a:solidFill>
            <a:srgbClr val="D47F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kern="100" dirty="0" smtClean="0">
              <a:solidFill>
                <a:schemeClr val="tx1"/>
              </a:solidFill>
            </a:endParaRPr>
          </a:p>
          <a:p>
            <a:pPr algn="ctr"/>
            <a:endParaRPr lang="ar-EG" dirty="0"/>
          </a:p>
        </p:txBody>
      </p:sp>
      <p:sp>
        <p:nvSpPr>
          <p:cNvPr id="10" name="مربع نص 9"/>
          <p:cNvSpPr txBox="1"/>
          <p:nvPr/>
        </p:nvSpPr>
        <p:spPr>
          <a:xfrm>
            <a:off x="9574694" y="4791429"/>
            <a:ext cx="222872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kern="100" dirty="0">
                <a:latin typeface="Garamond" panose="02020404030301010803" pitchFamily="18" charset="0"/>
              </a:rPr>
              <a:t>Specificity =</a:t>
            </a:r>
          </a:p>
          <a:p>
            <a:pPr algn="ctr"/>
            <a:r>
              <a:rPr lang="en-US" sz="2400" b="1" kern="100" dirty="0">
                <a:latin typeface="Garamond" panose="02020404030301010803" pitchFamily="18" charset="0"/>
              </a:rPr>
              <a:t>70.75</a:t>
            </a:r>
            <a:r>
              <a:rPr lang="en-US" sz="2400" b="1" kern="100" dirty="0" smtClean="0">
                <a:latin typeface="Garamond" panose="02020404030301010803" pitchFamily="18" charset="0"/>
              </a:rPr>
              <a:t>%</a:t>
            </a:r>
            <a:endParaRPr lang="en-US" sz="2400" b="1" kern="100" dirty="0">
              <a:latin typeface="Garamond" panose="02020404030301010803" pitchFamily="18" charset="0"/>
            </a:endParaRPr>
          </a:p>
        </p:txBody>
      </p:sp>
      <p:sp>
        <p:nvSpPr>
          <p:cNvPr id="11" name="مربع نص 10"/>
          <p:cNvSpPr txBox="1"/>
          <p:nvPr/>
        </p:nvSpPr>
        <p:spPr>
          <a:xfrm>
            <a:off x="629328" y="4814062"/>
            <a:ext cx="222872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kern="100" dirty="0" smtClean="0">
                <a:latin typeface="Garamond" panose="02020404030301010803" pitchFamily="18" charset="0"/>
              </a:rPr>
              <a:t>Sensitivity </a:t>
            </a:r>
            <a:r>
              <a:rPr lang="en-US" sz="2400" b="1" kern="100" dirty="0">
                <a:latin typeface="Garamond" panose="02020404030301010803" pitchFamily="18" charset="0"/>
              </a:rPr>
              <a:t>=</a:t>
            </a:r>
          </a:p>
          <a:p>
            <a:pPr algn="ctr"/>
            <a:r>
              <a:rPr lang="en-US" sz="2400" b="1" kern="100" dirty="0" smtClean="0">
                <a:latin typeface="Garamond" panose="02020404030301010803" pitchFamily="18" charset="0"/>
              </a:rPr>
              <a:t>68.7%</a:t>
            </a:r>
            <a:endParaRPr lang="en-US" sz="2400" b="1" kern="100" dirty="0">
              <a:latin typeface="Garamond" panose="02020404030301010803" pitchFamily="18" charset="0"/>
            </a:endParaRPr>
          </a:p>
        </p:txBody>
      </p:sp>
      <p:sp>
        <p:nvSpPr>
          <p:cNvPr id="12" name="سحابة 11"/>
          <p:cNvSpPr/>
          <p:nvPr/>
        </p:nvSpPr>
        <p:spPr>
          <a:xfrm>
            <a:off x="5075782" y="4175389"/>
            <a:ext cx="2640251" cy="1684421"/>
          </a:xfrm>
          <a:prstGeom prst="cloud">
            <a:avLst/>
          </a:prstGeom>
          <a:solidFill>
            <a:srgbClr val="CFD5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2400" b="1" kern="100" dirty="0" smtClean="0">
              <a:solidFill>
                <a:schemeClr val="tx1"/>
              </a:solidFill>
            </a:endParaRPr>
          </a:p>
          <a:p>
            <a:pPr algn="ctr"/>
            <a:endParaRPr lang="ar-EG" dirty="0"/>
          </a:p>
        </p:txBody>
      </p:sp>
      <p:sp>
        <p:nvSpPr>
          <p:cNvPr id="13" name="مربع نص 12"/>
          <p:cNvSpPr txBox="1"/>
          <p:nvPr/>
        </p:nvSpPr>
        <p:spPr>
          <a:xfrm>
            <a:off x="5281542" y="4613314"/>
            <a:ext cx="222872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kern="100" dirty="0" smtClean="0">
                <a:latin typeface="Garamond" panose="02020404030301010803" pitchFamily="18" charset="0"/>
              </a:rPr>
              <a:t>Accuracy </a:t>
            </a:r>
            <a:r>
              <a:rPr lang="en-US" sz="2400" b="1" kern="100" dirty="0">
                <a:latin typeface="Garamond" panose="02020404030301010803" pitchFamily="18" charset="0"/>
              </a:rPr>
              <a:t>=</a:t>
            </a:r>
          </a:p>
          <a:p>
            <a:pPr algn="ctr"/>
            <a:r>
              <a:rPr lang="en-US" sz="2400" b="1" kern="100" dirty="0" smtClean="0">
                <a:latin typeface="Garamond" panose="02020404030301010803" pitchFamily="18" charset="0"/>
              </a:rPr>
              <a:t>70%</a:t>
            </a:r>
            <a:endParaRPr lang="en-US" sz="2400" b="1" kern="1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 rotWithShape="1">
          <a:blip r:embed="rId3">
            <a:alphaModFix/>
          </a:blip>
          <a:srcRect l="3454" t="26768" r="17795" b="17969"/>
          <a:stretch/>
        </p:blipFill>
        <p:spPr>
          <a:xfrm>
            <a:off x="0" y="0"/>
            <a:ext cx="12192000" cy="6844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70" y="716045"/>
            <a:ext cx="9553260" cy="54259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82" y="1180977"/>
            <a:ext cx="10912786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3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38" y="1352647"/>
            <a:ext cx="10918882" cy="42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9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5"/>
          <p:cNvPicPr preferRelativeResize="0"/>
          <p:nvPr/>
        </p:nvPicPr>
        <p:blipFill rotWithShape="1">
          <a:blip r:embed="rId3">
            <a:alphaModFix/>
          </a:blip>
          <a:srcRect l="3257" t="26891" r="17697" b="17845"/>
          <a:stretch/>
        </p:blipFill>
        <p:spPr>
          <a:xfrm>
            <a:off x="-74388" y="4127"/>
            <a:ext cx="12254356" cy="6853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6834" y="755188"/>
            <a:ext cx="8333954" cy="5419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7"/>
          <p:cNvPicPr preferRelativeResize="0"/>
          <p:nvPr/>
        </p:nvPicPr>
        <p:blipFill rotWithShape="1">
          <a:blip r:embed="rId3">
            <a:alphaModFix/>
          </a:blip>
          <a:srcRect t="3294" r="782"/>
          <a:stretch/>
        </p:blipFill>
        <p:spPr>
          <a:xfrm>
            <a:off x="712470" y="680918"/>
            <a:ext cx="10693468" cy="5527377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7"/>
          <p:cNvSpPr/>
          <p:nvPr/>
        </p:nvSpPr>
        <p:spPr>
          <a:xfrm>
            <a:off x="7612083" y="783771"/>
            <a:ext cx="1068779" cy="605642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5070764" y="1615044"/>
            <a:ext cx="1140031" cy="546265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10165277" y="5272645"/>
            <a:ext cx="843148" cy="593766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" name="Google Shape;439;p38"/>
          <p:cNvGraphicFramePr/>
          <p:nvPr/>
        </p:nvGraphicFramePr>
        <p:xfrm>
          <a:off x="1720514" y="1696450"/>
          <a:ext cx="8795100" cy="4042675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43975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975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924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Variable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Overall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 Percentage of educated workers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27.187527%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Main activity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22.885368%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Research and development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20.895093%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Education of the owner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16.926351%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Cost of the internet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9.244600%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5837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Human capital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9.080489%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0" name="Google Shape;440;p38"/>
          <p:cNvSpPr/>
          <p:nvPr/>
        </p:nvSpPr>
        <p:spPr>
          <a:xfrm>
            <a:off x="2833743" y="970367"/>
            <a:ext cx="64508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variables in splitting data.</a:t>
            </a:r>
            <a:endParaRPr sz="2800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7362701" y="2386940"/>
            <a:ext cx="1921847" cy="439387"/>
          </a:xfrm>
          <a:prstGeom prst="ellipse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" name="Google Shape;447;p39"/>
          <p:cNvGraphicFramePr/>
          <p:nvPr/>
        </p:nvGraphicFramePr>
        <p:xfrm>
          <a:off x="1856957" y="1129969"/>
          <a:ext cx="8478075" cy="3017550"/>
        </p:xfrm>
        <a:graphic>
          <a:graphicData uri="http://schemas.openxmlformats.org/drawingml/2006/table">
            <a:tbl>
              <a:tblPr firstRow="1" firstCol="1" bandRow="1">
                <a:noFill/>
                <a:tableStyleId>{E791D69E-18C2-41AF-B516-25AEC0976B42}</a:tableStyleId>
              </a:tblPr>
              <a:tblGrid>
                <a:gridCol w="21218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227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218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116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 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grid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Reference (True)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Total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67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Predicted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/>
                        <a:t>Digitalized</a:t>
                      </a:r>
                      <a:endParaRPr sz="1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Not digitalized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Digitalized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35 </a:t>
                      </a: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(64.8%)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65 (28.1%)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100 (35.08%)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Not digitalized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19 (35.2%)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166 </a:t>
                      </a: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(71.9%)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47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185 (64.92%)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240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54 (100%)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231 (100%)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285 (100%)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8" name="Google Shape;448;p39"/>
          <p:cNvSpPr/>
          <p:nvPr/>
        </p:nvSpPr>
        <p:spPr>
          <a:xfrm>
            <a:off x="4249180" y="606749"/>
            <a:ext cx="36936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B0F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classification table</a:t>
            </a:r>
            <a:endParaRPr sz="2800">
              <a:solidFill>
                <a:srgbClr val="0B0F7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9264316" y="4255005"/>
            <a:ext cx="2360969" cy="1636563"/>
          </a:xfrm>
          <a:prstGeom prst="cloudCallout">
            <a:avLst>
              <a:gd name="adj1" fmla="val 64481"/>
              <a:gd name="adj2" fmla="val 40445"/>
            </a:avLst>
          </a:prstGeom>
          <a:solidFill>
            <a:srgbClr val="D47E76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Specificity= 71.9%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50" name="Google Shape;450;p39"/>
          <p:cNvCxnSpPr/>
          <p:nvPr/>
        </p:nvCxnSpPr>
        <p:spPr>
          <a:xfrm>
            <a:off x="7530916" y="3518055"/>
            <a:ext cx="1733400" cy="14739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1" name="Google Shape;451;p39"/>
          <p:cNvSpPr/>
          <p:nvPr/>
        </p:nvSpPr>
        <p:spPr>
          <a:xfrm>
            <a:off x="621791" y="4255007"/>
            <a:ext cx="2313914" cy="1636563"/>
          </a:xfrm>
          <a:prstGeom prst="cloudCallout">
            <a:avLst>
              <a:gd name="adj1" fmla="val -51155"/>
              <a:gd name="adj2" fmla="val 63235"/>
            </a:avLst>
          </a:prstGeom>
          <a:solidFill>
            <a:srgbClr val="92D050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Sensitivity = 64.8% </a:t>
            </a:r>
            <a:endParaRPr/>
          </a:p>
        </p:txBody>
      </p:sp>
      <p:cxnSp>
        <p:nvCxnSpPr>
          <p:cNvPr id="452" name="Google Shape;452;p39"/>
          <p:cNvCxnSpPr/>
          <p:nvPr/>
        </p:nvCxnSpPr>
        <p:spPr>
          <a:xfrm flipH="1">
            <a:off x="2935705" y="2856901"/>
            <a:ext cx="2436600" cy="19665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3" name="Google Shape;453;p39"/>
          <p:cNvSpPr/>
          <p:nvPr/>
        </p:nvSpPr>
        <p:spPr>
          <a:xfrm>
            <a:off x="4523232" y="4255005"/>
            <a:ext cx="3645408" cy="1636563"/>
          </a:xfrm>
          <a:prstGeom prst="cloudCallout">
            <a:avLst>
              <a:gd name="adj1" fmla="val 4581"/>
              <a:gd name="adj2" fmla="val 82350"/>
            </a:avLst>
          </a:prstGeom>
          <a:solidFill>
            <a:schemeClr val="lt2"/>
          </a:solidFill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Accuracy =</a:t>
            </a:r>
            <a:endParaRPr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70.52%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40"/>
          <p:cNvPicPr preferRelativeResize="0"/>
          <p:nvPr/>
        </p:nvPicPr>
        <p:blipFill rotWithShape="1">
          <a:blip r:embed="rId3">
            <a:alphaModFix/>
          </a:blip>
          <a:srcRect l="3257" t="26686" r="17993" b="17681"/>
          <a:stretch/>
        </p:blipFill>
        <p:spPr>
          <a:xfrm>
            <a:off x="0" y="15653"/>
            <a:ext cx="12192000" cy="6890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1"/>
          <p:cNvSpPr/>
          <p:nvPr/>
        </p:nvSpPr>
        <p:spPr>
          <a:xfrm>
            <a:off x="641044" y="645532"/>
            <a:ext cx="6577903" cy="2855657"/>
          </a:xfrm>
          <a:prstGeom prst="cloudCallout">
            <a:avLst>
              <a:gd name="adj1" fmla="val -45251"/>
              <a:gd name="adj2" fmla="val 53080"/>
            </a:avLst>
          </a:prstGeom>
          <a:solidFill>
            <a:schemeClr val="accent2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u="sng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6356203" y="2754940"/>
            <a:ext cx="4821294" cy="3039978"/>
          </a:xfrm>
          <a:prstGeom prst="cloudCallout">
            <a:avLst>
              <a:gd name="adj1" fmla="val 52078"/>
              <a:gd name="adj2" fmla="val 52008"/>
            </a:avLst>
          </a:prstGeom>
          <a:solidFill>
            <a:srgbClr val="002060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5" name="Google Shape;465;p41"/>
          <p:cNvSpPr txBox="1"/>
          <p:nvPr/>
        </p:nvSpPr>
        <p:spPr>
          <a:xfrm>
            <a:off x="830178" y="1027409"/>
            <a:ext cx="5967664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Construct an index: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Mohamed et al. (2022)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Mammadli and Klivak (2020)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Yakymova et al (2022)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 digital government authority of Saudi Arabia (2023)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Brondy and Tutak (2022)</a:t>
            </a:r>
            <a:endParaRPr/>
          </a:p>
        </p:txBody>
      </p:sp>
      <p:sp>
        <p:nvSpPr>
          <p:cNvPr id="466" name="Google Shape;466;p41"/>
          <p:cNvSpPr txBox="1"/>
          <p:nvPr/>
        </p:nvSpPr>
        <p:spPr>
          <a:xfrm>
            <a:off x="6641431" y="3417452"/>
            <a:ext cx="4250838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Clustering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Brondy</a:t>
            </a:r>
            <a:r>
              <a:rPr lang="en-US" sz="2000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and </a:t>
            </a:r>
            <a:r>
              <a:rPr lang="en-US" sz="2000" dirty="0" err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Tutak</a:t>
            </a:r>
            <a:r>
              <a:rPr lang="en-US" sz="2000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(2021)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Kharlamov and Parry (2020)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Mies</a:t>
            </a:r>
            <a:r>
              <a:rPr lang="en-US" sz="2000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Et al (2023)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2"/>
          <p:cNvPicPr preferRelativeResize="0"/>
          <p:nvPr/>
        </p:nvPicPr>
        <p:blipFill rotWithShape="1">
          <a:blip r:embed="rId3">
            <a:alphaModFix/>
          </a:blip>
          <a:srcRect l="3454" t="26809" r="17696" b="18051"/>
          <a:stretch/>
        </p:blipFill>
        <p:spPr>
          <a:xfrm>
            <a:off x="0" y="-1"/>
            <a:ext cx="12192000" cy="6820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"/>
          <p:cNvSpPr/>
          <p:nvPr/>
        </p:nvSpPr>
        <p:spPr>
          <a:xfrm>
            <a:off x="6041057" y="609462"/>
            <a:ext cx="45719" cy="5722144"/>
          </a:xfrm>
          <a:prstGeom prst="roundRect">
            <a:avLst>
              <a:gd name="adj" fmla="val 225263"/>
            </a:avLst>
          </a:prstGeom>
          <a:solidFill>
            <a:srgbClr val="3B3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4983872" y="1184139"/>
            <a:ext cx="805101" cy="45958"/>
          </a:xfrm>
          <a:prstGeom prst="roundRect">
            <a:avLst>
              <a:gd name="adj" fmla="val 225263"/>
            </a:avLst>
          </a:prstGeom>
          <a:solidFill>
            <a:srgbClr val="3B3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3"/>
          <p:cNvSpPr/>
          <p:nvPr/>
        </p:nvSpPr>
        <p:spPr>
          <a:xfrm>
            <a:off x="5788973" y="964437"/>
            <a:ext cx="517565" cy="517565"/>
          </a:xfrm>
          <a:prstGeom prst="roundRect">
            <a:avLst>
              <a:gd name="adj" fmla="val 20003"/>
            </a:avLst>
          </a:prstGeom>
          <a:solidFill>
            <a:srgbClr val="22265D"/>
          </a:solidFill>
          <a:ln w="9525" cap="flat" cmpd="sng">
            <a:solidFill>
              <a:srgbClr val="3B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3"/>
          <p:cNvSpPr/>
          <p:nvPr/>
        </p:nvSpPr>
        <p:spPr>
          <a:xfrm>
            <a:off x="5952477" y="1018555"/>
            <a:ext cx="158472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717"/>
              <a:buFont typeface="Inter"/>
              <a:buNone/>
            </a:pPr>
            <a:r>
              <a:rPr lang="en-US" sz="2717" b="1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717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2832100" y="935744"/>
            <a:ext cx="2142881" cy="43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250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17"/>
              <a:buFont typeface="Inter"/>
              <a:buNone/>
            </a:pP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Inter"/>
                <a:cs typeface="Inter"/>
                <a:sym typeface="Inter"/>
              </a:rPr>
              <a:t>Insignificant</a:t>
            </a:r>
            <a:endParaRPr sz="2400" dirty="0">
              <a:solidFill>
                <a:schemeClr val="dk1"/>
              </a:solidFill>
              <a:latin typeface="Garamond" panose="02020404030301010803" pitchFamily="18" charset="0"/>
              <a:ea typeface="Garamond"/>
              <a:cs typeface="Garamond"/>
              <a:sym typeface="Garamond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953763" y="1453119"/>
            <a:ext cx="5018127" cy="127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1"/>
              <a:buFont typeface="Inter"/>
              <a:buNone/>
            </a:pPr>
            <a:r>
              <a:rPr lang="en-US" sz="181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The digital transformation in the three countries does not show a significant difference</a:t>
            </a:r>
            <a:endParaRPr sz="1811" dirty="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6354663" y="2350444"/>
            <a:ext cx="805101" cy="45958"/>
          </a:xfrm>
          <a:prstGeom prst="roundRect">
            <a:avLst>
              <a:gd name="adj" fmla="val 225263"/>
            </a:avLst>
          </a:prstGeom>
          <a:solidFill>
            <a:srgbClr val="3B3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3"/>
          <p:cNvSpPr/>
          <p:nvPr/>
        </p:nvSpPr>
        <p:spPr>
          <a:xfrm>
            <a:off x="5805015" y="2114701"/>
            <a:ext cx="517565" cy="517565"/>
          </a:xfrm>
          <a:prstGeom prst="roundRect">
            <a:avLst>
              <a:gd name="adj" fmla="val 20003"/>
            </a:avLst>
          </a:prstGeom>
          <a:solidFill>
            <a:srgbClr val="22265D"/>
          </a:solidFill>
          <a:ln w="9525" cap="flat" cmpd="sng">
            <a:solidFill>
              <a:srgbClr val="3B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3"/>
          <p:cNvSpPr/>
          <p:nvPr/>
        </p:nvSpPr>
        <p:spPr>
          <a:xfrm>
            <a:off x="5976314" y="2184859"/>
            <a:ext cx="207050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717"/>
              <a:buFont typeface="Inter"/>
              <a:buNone/>
            </a:pPr>
            <a:r>
              <a:rPr lang="en-US" sz="2717" b="1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717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7136569" y="2118090"/>
            <a:ext cx="3450788" cy="43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1">
              <a:lnSpc>
                <a:spcPct val="125027"/>
              </a:lnSpc>
              <a:buClr>
                <a:schemeClr val="dk1"/>
              </a:buClr>
              <a:buSzPts val="2717"/>
            </a:pP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Inter"/>
                <a:sym typeface="Inter"/>
              </a:rPr>
              <a:t>Poor Levels</a:t>
            </a:r>
            <a:endParaRPr sz="2400" b="1" dirty="0">
              <a:solidFill>
                <a:schemeClr val="dk1"/>
              </a:solidFill>
              <a:latin typeface="Garamond" panose="02020404030301010803" pitchFamily="18" charset="0"/>
              <a:ea typeface="Inter"/>
              <a:sym typeface="Garamond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6440448" y="2671009"/>
            <a:ext cx="5018246" cy="73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6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1"/>
              <a:buFont typeface="Inter"/>
              <a:buNone/>
            </a:pPr>
            <a:r>
              <a:rPr lang="en-US" sz="181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The digital transformation level in three countries is currently low </a:t>
            </a:r>
            <a:endParaRPr sz="1811" dirty="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5048040" y="3369651"/>
            <a:ext cx="805101" cy="45958"/>
          </a:xfrm>
          <a:prstGeom prst="roundRect">
            <a:avLst>
              <a:gd name="adj" fmla="val 225263"/>
            </a:avLst>
          </a:prstGeom>
          <a:solidFill>
            <a:srgbClr val="3B3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3"/>
          <p:cNvSpPr/>
          <p:nvPr/>
        </p:nvSpPr>
        <p:spPr>
          <a:xfrm>
            <a:off x="5837099" y="3101823"/>
            <a:ext cx="517565" cy="517565"/>
          </a:xfrm>
          <a:prstGeom prst="roundRect">
            <a:avLst>
              <a:gd name="adj" fmla="val 20003"/>
            </a:avLst>
          </a:prstGeom>
          <a:solidFill>
            <a:srgbClr val="22265D"/>
          </a:solidFill>
          <a:ln w="9525" cap="flat" cmpd="sng">
            <a:solidFill>
              <a:srgbClr val="3B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3"/>
          <p:cNvSpPr/>
          <p:nvPr/>
        </p:nvSpPr>
        <p:spPr>
          <a:xfrm>
            <a:off x="5987236" y="3171981"/>
            <a:ext cx="217170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717"/>
              <a:buFont typeface="Inter"/>
              <a:buNone/>
            </a:pPr>
            <a:r>
              <a:rPr lang="en-US" sz="2717" b="1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717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-994780" y="3075799"/>
            <a:ext cx="5940841" cy="88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125027"/>
              </a:lnSpc>
              <a:buClr>
                <a:schemeClr val="dk1"/>
              </a:buClr>
              <a:buSzPts val="2717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Inter"/>
                <a:sym typeface="Garamond"/>
              </a:rPr>
              <a:t>Education</a:t>
            </a:r>
          </a:p>
        </p:txBody>
      </p:sp>
      <p:sp>
        <p:nvSpPr>
          <p:cNvPr id="491" name="Google Shape;491;p43"/>
          <p:cNvSpPr/>
          <p:nvPr/>
        </p:nvSpPr>
        <p:spPr>
          <a:xfrm>
            <a:off x="904909" y="3764300"/>
            <a:ext cx="5018127" cy="147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6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1"/>
              <a:buFont typeface="Inter"/>
              <a:buNone/>
            </a:pPr>
            <a:r>
              <a:rPr lang="en-US" sz="181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The most significant factor influencing digitalization is the education level of the enterprise owner or the percentage of educated workers</a:t>
            </a:r>
            <a:endParaRPr sz="1811" dirty="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6398952" y="4489859"/>
            <a:ext cx="805101" cy="45958"/>
          </a:xfrm>
          <a:prstGeom prst="roundRect">
            <a:avLst>
              <a:gd name="adj" fmla="val 225263"/>
            </a:avLst>
          </a:prstGeom>
          <a:solidFill>
            <a:srgbClr val="3B3F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3"/>
          <p:cNvSpPr/>
          <p:nvPr/>
        </p:nvSpPr>
        <p:spPr>
          <a:xfrm>
            <a:off x="5837099" y="4236800"/>
            <a:ext cx="517565" cy="517565"/>
          </a:xfrm>
          <a:prstGeom prst="roundRect">
            <a:avLst>
              <a:gd name="adj" fmla="val 20003"/>
            </a:avLst>
          </a:prstGeom>
          <a:solidFill>
            <a:srgbClr val="22265D"/>
          </a:solidFill>
          <a:ln w="9525" cap="flat" cmpd="sng">
            <a:solidFill>
              <a:srgbClr val="3B3F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3"/>
          <p:cNvSpPr/>
          <p:nvPr/>
        </p:nvSpPr>
        <p:spPr>
          <a:xfrm>
            <a:off x="5984081" y="4265541"/>
            <a:ext cx="223480" cy="345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717"/>
              <a:buFont typeface="Inter"/>
              <a:buNone/>
            </a:pPr>
            <a:r>
              <a:rPr lang="en-US" sz="2717" b="1" dirty="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717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7136569" y="4185584"/>
            <a:ext cx="3450788" cy="43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1">
              <a:lnSpc>
                <a:spcPct val="125027"/>
              </a:lnSpc>
              <a:buClr>
                <a:schemeClr val="dk1"/>
              </a:buClr>
              <a:buSzPts val="2717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Inter"/>
                <a:sym typeface="Inter"/>
              </a:rPr>
              <a:t>Human Capital</a:t>
            </a:r>
            <a:endParaRPr sz="2400" b="1" dirty="0">
              <a:solidFill>
                <a:schemeClr val="dk1"/>
              </a:solidFill>
              <a:latin typeface="Garamond" panose="02020404030301010803" pitchFamily="18" charset="0"/>
              <a:ea typeface="Inter"/>
              <a:sym typeface="Garamond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6485789" y="4657492"/>
            <a:ext cx="4381662" cy="94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160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1"/>
              <a:buFont typeface="Inter"/>
              <a:buNone/>
            </a:pPr>
            <a:r>
              <a:rPr lang="en-US" sz="181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The larger number of workers an enterprise has, The more digitalized the enterprise is</a:t>
            </a:r>
            <a:endParaRPr sz="1811" dirty="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1031677" y="6788944"/>
            <a:ext cx="5751433" cy="71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24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29"/>
              <a:buFont typeface="Garamond"/>
              <a:buNone/>
            </a:pPr>
            <a:endParaRPr sz="4529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4"/>
          <p:cNvPicPr preferRelativeResize="0"/>
          <p:nvPr/>
        </p:nvPicPr>
        <p:blipFill rotWithShape="1">
          <a:blip r:embed="rId3">
            <a:alphaModFix/>
          </a:blip>
          <a:srcRect l="3356" t="26809" r="17795" b="18051"/>
          <a:stretch/>
        </p:blipFill>
        <p:spPr>
          <a:xfrm>
            <a:off x="-66480" y="0"/>
            <a:ext cx="122584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7507" y="1025534"/>
            <a:ext cx="9156986" cy="45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6"/>
          <p:cNvPicPr preferRelativeResize="0"/>
          <p:nvPr/>
        </p:nvPicPr>
        <p:blipFill rotWithShape="1">
          <a:blip r:embed="rId3">
            <a:alphaModFix/>
          </a:blip>
          <a:srcRect l="3552" t="27056" r="17894" b="18050"/>
          <a:stretch/>
        </p:blipFill>
        <p:spPr>
          <a:xfrm>
            <a:off x="1" y="-1"/>
            <a:ext cx="12192000" cy="681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عضوي">
  <a:themeElements>
    <a:clrScheme name="عضوي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636</Words>
  <Application>Microsoft Office PowerPoint</Application>
  <PresentationFormat>Custom</PresentationFormat>
  <Paragraphs>231</Paragraphs>
  <Slides>47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Microsoft JhengHei UI Light</vt:lpstr>
      <vt:lpstr>Times New Roman</vt:lpstr>
      <vt:lpstr>Calibri</vt:lpstr>
      <vt:lpstr>Noto Sans Symbols</vt:lpstr>
      <vt:lpstr>Garamond</vt:lpstr>
      <vt:lpstr>SimSun</vt:lpstr>
      <vt:lpstr>Inter</vt:lpstr>
      <vt:lpstr>عضوي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حساب Microsoft</dc:creator>
  <cp:lastModifiedBy>mohamed</cp:lastModifiedBy>
  <cp:revision>14</cp:revision>
  <dcterms:created xsi:type="dcterms:W3CDTF">2024-06-22T11:48:11Z</dcterms:created>
  <dcterms:modified xsi:type="dcterms:W3CDTF">2024-06-24T22:25:13Z</dcterms:modified>
</cp:coreProperties>
</file>