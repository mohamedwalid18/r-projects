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71" r:id="rId12"/>
    <p:sldId id="268" r:id="rId13"/>
    <p:sldId id="269" r:id="rId14"/>
    <p:sldId id="272" r:id="rId15"/>
    <p:sldId id="270" r:id="rId16"/>
    <p:sldId id="273" r:id="rId1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882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-833199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-546714" y="1642144"/>
            <a:ext cx="7477601" cy="4443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499"/>
              </a:lnSpc>
              <a:buNone/>
            </a:pPr>
            <a:r>
              <a:rPr lang="en-US" sz="5000" b="1" u="sng" dirty="0">
                <a:solidFill>
                  <a:srgbClr val="3851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Australia's temperature analysis:</a:t>
            </a:r>
            <a:endParaRPr lang="en-US" sz="5000" u="sng" dirty="0"/>
          </a:p>
        </p:txBody>
      </p:sp>
      <p:sp>
        <p:nvSpPr>
          <p:cNvPr id="6" name="Text 3"/>
          <p:cNvSpPr/>
          <p:nvPr/>
        </p:nvSpPr>
        <p:spPr>
          <a:xfrm>
            <a:off x="833199" y="3156823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33199" y="3762137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-347209" y="3937099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4374" dirty="0">
                <a:solidFill>
                  <a:srgbClr val="38512F"/>
                </a:solidFill>
                <a:latin typeface="Lora" pitchFamily="34" charset="0"/>
              </a:rPr>
              <a:t>Presented By:</a:t>
            </a:r>
          </a:p>
        </p:txBody>
      </p:sp>
      <p:sp>
        <p:nvSpPr>
          <p:cNvPr id="9" name="Text 6"/>
          <p:cNvSpPr/>
          <p:nvPr/>
        </p:nvSpPr>
        <p:spPr>
          <a:xfrm>
            <a:off x="0" y="4704116"/>
            <a:ext cx="7895165" cy="24920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4374" dirty="0">
                <a:latin typeface="Lora" pitchFamily="34" charset="0"/>
              </a:rPr>
              <a:t>Hassan Ehab</a:t>
            </a:r>
          </a:p>
          <a:p>
            <a:pPr marL="0" indent="0">
              <a:lnSpc>
                <a:spcPts val="2799"/>
              </a:lnSpc>
              <a:buNone/>
            </a:pPr>
            <a:endParaRPr lang="en-US" sz="4374" dirty="0">
              <a:latin typeface="Lora" pitchFamily="34" charset="0"/>
            </a:endParaRPr>
          </a:p>
          <a:p>
            <a:pPr marL="0" indent="0">
              <a:lnSpc>
                <a:spcPts val="2799"/>
              </a:lnSpc>
              <a:buNone/>
            </a:pPr>
            <a:r>
              <a:rPr lang="en-US" sz="4374" dirty="0">
                <a:latin typeface="Lora" pitchFamily="34" charset="0"/>
              </a:rPr>
              <a:t>Mohamed Khaled</a:t>
            </a:r>
          </a:p>
          <a:p>
            <a:pPr marL="0" indent="0">
              <a:lnSpc>
                <a:spcPts val="2799"/>
              </a:lnSpc>
              <a:buNone/>
            </a:pPr>
            <a:endParaRPr lang="en-US" sz="4374" dirty="0">
              <a:latin typeface="Lora" pitchFamily="34" charset="0"/>
            </a:endParaRPr>
          </a:p>
          <a:p>
            <a:pPr marL="0" indent="0">
              <a:lnSpc>
                <a:spcPts val="2799"/>
              </a:lnSpc>
              <a:buNone/>
            </a:pPr>
            <a:r>
              <a:rPr lang="en-US" sz="4374" dirty="0">
                <a:latin typeface="Lora" pitchFamily="34" charset="0"/>
              </a:rPr>
              <a:t>Mohamed Walid </a:t>
            </a:r>
          </a:p>
        </p:txBody>
      </p:sp>
      <p:sp>
        <p:nvSpPr>
          <p:cNvPr id="10" name="Shape 7"/>
          <p:cNvSpPr/>
          <p:nvPr/>
        </p:nvSpPr>
        <p:spPr>
          <a:xfrm>
            <a:off x="833199" y="5594747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1171932" y="573059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Outline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71932" y="2074855"/>
            <a:ext cx="957810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description &amp; objective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71932" y="2914572"/>
            <a:ext cx="957810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2"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Data exploration and Visualization</a:t>
            </a:r>
          </a:p>
        </p:txBody>
      </p:sp>
      <p:sp>
        <p:nvSpPr>
          <p:cNvPr id="7" name="Text 5"/>
          <p:cNvSpPr/>
          <p:nvPr/>
        </p:nvSpPr>
        <p:spPr>
          <a:xfrm>
            <a:off x="1171932" y="3664398"/>
            <a:ext cx="957810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3"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Trend Surface Model (TSM)</a:t>
            </a:r>
          </a:p>
        </p:txBody>
      </p:sp>
      <p:sp>
        <p:nvSpPr>
          <p:cNvPr id="8" name="Text 6"/>
          <p:cNvSpPr/>
          <p:nvPr/>
        </p:nvSpPr>
        <p:spPr>
          <a:xfrm>
            <a:off x="1171932" y="4414224"/>
            <a:ext cx="957810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4"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Inverse Distance Weighting (IDW</a:t>
            </a:r>
            <a:r>
              <a:rPr lang="en-US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71932" y="5164050"/>
            <a:ext cx="957810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5"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Kriging</a:t>
            </a:r>
          </a:p>
        </p:txBody>
      </p:sp>
      <p:sp>
        <p:nvSpPr>
          <p:cNvPr id="10" name="Text 8"/>
          <p:cNvSpPr/>
          <p:nvPr/>
        </p:nvSpPr>
        <p:spPr>
          <a:xfrm>
            <a:off x="1171932" y="5903939"/>
            <a:ext cx="9578102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2799"/>
              </a:lnSpc>
              <a:buSzPct val="100000"/>
              <a:buFont typeface="+mj-lt"/>
              <a:buAutoNum type="arabicPeriod" startAt="6"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Conclusion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510975" y="499303"/>
            <a:ext cx="741664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</a:rPr>
              <a:t>Data description &amp; Objective</a:t>
            </a:r>
          </a:p>
        </p:txBody>
      </p:sp>
      <p:sp>
        <p:nvSpPr>
          <p:cNvPr id="5" name="Text 3"/>
          <p:cNvSpPr/>
          <p:nvPr/>
        </p:nvSpPr>
        <p:spPr>
          <a:xfrm>
            <a:off x="697512" y="2456797"/>
            <a:ext cx="4157878" cy="378199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Australian Temperature dataset, sourced from Kaggle, includes data from 112 weather stations across Australia from 1975 to 2019.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83995" y="2456797"/>
            <a:ext cx="4023360" cy="378199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The dataset contains 5037 observations, all of which are complete and relevant to 1980, with a specific focus on 112 observations for that year.</a:t>
            </a:r>
          </a:p>
        </p:txBody>
      </p:sp>
      <p:sp>
        <p:nvSpPr>
          <p:cNvPr id="7" name="Text 5"/>
          <p:cNvSpPr/>
          <p:nvPr/>
        </p:nvSpPr>
        <p:spPr>
          <a:xfrm>
            <a:off x="9603196" y="2456797"/>
            <a:ext cx="4595316" cy="375108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30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The study aims to improve Australia's understanding of temperature variations by highlighting significant spatial patterns and providing recommendations for policymakers, researchers, and stakeholders.</a:t>
            </a:r>
          </a:p>
        </p:txBody>
      </p:sp>
      <p:sp>
        <p:nvSpPr>
          <p:cNvPr id="8" name="Text 6"/>
          <p:cNvSpPr/>
          <p:nvPr/>
        </p:nvSpPr>
        <p:spPr>
          <a:xfrm>
            <a:off x="9346406" y="5617012"/>
            <a:ext cx="2950488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378072" y="393617"/>
            <a:ext cx="888182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Exploration and Visualization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16131" y="2018932"/>
            <a:ext cx="5372587" cy="303520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Exploring spatial autocorrelation in Australia's temperature in 1980 using global Moran's I and localized version, comparing observed with expected results, and determining if Gaussian distribution follows.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93687" y="3740110"/>
            <a:ext cx="4695706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073DE4-CB81-EF9C-E8F0-208028AD4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984454"/>
              </p:ext>
            </p:extLst>
          </p:nvPr>
        </p:nvGraphicFramePr>
        <p:xfrm>
          <a:off x="5804849" y="1878227"/>
          <a:ext cx="8609420" cy="3907432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1980743">
                  <a:extLst>
                    <a:ext uri="{9D8B030D-6E8A-4147-A177-3AD203B41FA5}">
                      <a16:colId xmlns:a16="http://schemas.microsoft.com/office/drawing/2014/main" val="834862740"/>
                    </a:ext>
                  </a:extLst>
                </a:gridCol>
                <a:gridCol w="1708260">
                  <a:extLst>
                    <a:ext uri="{9D8B030D-6E8A-4147-A177-3AD203B41FA5}">
                      <a16:colId xmlns:a16="http://schemas.microsoft.com/office/drawing/2014/main" val="1544306477"/>
                    </a:ext>
                  </a:extLst>
                </a:gridCol>
                <a:gridCol w="1776381">
                  <a:extLst>
                    <a:ext uri="{9D8B030D-6E8A-4147-A177-3AD203B41FA5}">
                      <a16:colId xmlns:a16="http://schemas.microsoft.com/office/drawing/2014/main" val="727313608"/>
                    </a:ext>
                  </a:extLst>
                </a:gridCol>
                <a:gridCol w="1572018">
                  <a:extLst>
                    <a:ext uri="{9D8B030D-6E8A-4147-A177-3AD203B41FA5}">
                      <a16:colId xmlns:a16="http://schemas.microsoft.com/office/drawing/2014/main" val="3737246951"/>
                    </a:ext>
                  </a:extLst>
                </a:gridCol>
                <a:gridCol w="1572018">
                  <a:extLst>
                    <a:ext uri="{9D8B030D-6E8A-4147-A177-3AD203B41FA5}">
                      <a16:colId xmlns:a16="http://schemas.microsoft.com/office/drawing/2014/main" val="3924281044"/>
                    </a:ext>
                  </a:extLst>
                </a:gridCol>
              </a:tblGrid>
              <a:tr h="9617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Test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Variable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Statistic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P-value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Normality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26974"/>
                  </a:ext>
                </a:extLst>
              </a:tr>
              <a:tr h="961733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500" dirty="0">
                        <a:effectLst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Latitude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1.2002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>
                          <a:effectLst/>
                        </a:rPr>
                        <a:t>0.0038</a:t>
                      </a:r>
                      <a:endParaRPr lang="en-US" sz="2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>
                          <a:effectLst/>
                        </a:rPr>
                        <a:t>No</a:t>
                      </a:r>
                      <a:endParaRPr lang="en-US" sz="25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304056"/>
                  </a:ext>
                </a:extLst>
              </a:tr>
              <a:tr h="961733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Anderson-Darling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Longitude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5.3136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&lt;0.001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No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854799"/>
                  </a:ext>
                </a:extLst>
              </a:tr>
              <a:tr h="1022233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Anderson-Darling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</a:rPr>
                        <a:t>Temperature</a:t>
                      </a:r>
                      <a:endParaRPr lang="en-US" sz="2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0.3565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</a:rPr>
                        <a:t>0.4511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u="sng" dirty="0">
                          <a:effectLst/>
                        </a:rPr>
                        <a:t>Yes</a:t>
                      </a:r>
                      <a:endParaRPr lang="en-US" sz="2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00140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208D78C-ADB7-2F19-C453-FDDA9E4AF1D5}"/>
              </a:ext>
            </a:extLst>
          </p:cNvPr>
          <p:cNvSpPr/>
          <p:nvPr/>
        </p:nvSpPr>
        <p:spPr>
          <a:xfrm>
            <a:off x="5851359" y="3719057"/>
            <a:ext cx="1694216" cy="10080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tx1"/>
                </a:solidFill>
                <a:effectLst/>
              </a:rPr>
              <a:t>Anderson-Darling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9C33573-578F-B0E5-13DE-64B0F5CF6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76775"/>
              </p:ext>
            </p:extLst>
          </p:nvPr>
        </p:nvGraphicFramePr>
        <p:xfrm>
          <a:off x="5804849" y="6033440"/>
          <a:ext cx="8609420" cy="2241080"/>
        </p:xfrm>
        <a:graphic>
          <a:graphicData uri="http://schemas.openxmlformats.org/drawingml/2006/table">
            <a:tbl>
              <a:tblPr firstRow="1" firstCol="1" bandRow="1">
                <a:tableStyleId>{10A1B5D5-9B99-4C35-A422-299274C87663}</a:tableStyleId>
              </a:tblPr>
              <a:tblGrid>
                <a:gridCol w="2423202">
                  <a:extLst>
                    <a:ext uri="{9D8B030D-6E8A-4147-A177-3AD203B41FA5}">
                      <a16:colId xmlns:a16="http://schemas.microsoft.com/office/drawing/2014/main" val="784931044"/>
                    </a:ext>
                  </a:extLst>
                </a:gridCol>
                <a:gridCol w="2089852">
                  <a:extLst>
                    <a:ext uri="{9D8B030D-6E8A-4147-A177-3AD203B41FA5}">
                      <a16:colId xmlns:a16="http://schemas.microsoft.com/office/drawing/2014/main" val="567719713"/>
                    </a:ext>
                  </a:extLst>
                </a:gridCol>
                <a:gridCol w="2454187">
                  <a:extLst>
                    <a:ext uri="{9D8B030D-6E8A-4147-A177-3AD203B41FA5}">
                      <a16:colId xmlns:a16="http://schemas.microsoft.com/office/drawing/2014/main" val="2999992691"/>
                    </a:ext>
                  </a:extLst>
                </a:gridCol>
                <a:gridCol w="1642179">
                  <a:extLst>
                    <a:ext uri="{9D8B030D-6E8A-4147-A177-3AD203B41FA5}">
                      <a16:colId xmlns:a16="http://schemas.microsoft.com/office/drawing/2014/main" val="682762380"/>
                    </a:ext>
                  </a:extLst>
                </a:gridCol>
              </a:tblGrid>
              <a:tr h="1098080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Observed 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Expected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 deviation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P-value</a:t>
                      </a:r>
                    </a:p>
                  </a:txBody>
                  <a:tcPr marL="68580" marR="6858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660999"/>
                  </a:ext>
                </a:extLst>
              </a:tr>
              <a:tr h="1098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0.3662942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-0.009009009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0.02569523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786056"/>
                  </a:ext>
                </a:extLst>
              </a:tr>
            </a:tbl>
          </a:graphicData>
        </a:graphic>
      </p:graphicFrame>
      <p:sp>
        <p:nvSpPr>
          <p:cNvPr id="11" name="Text 3">
            <a:extLst>
              <a:ext uri="{FF2B5EF4-FFF2-40B4-BE49-F238E27FC236}">
                <a16:creationId xmlns:a16="http://schemas.microsoft.com/office/drawing/2014/main" id="{D953D23A-D535-31A0-83FA-ADC4A5E6EC40}"/>
              </a:ext>
            </a:extLst>
          </p:cNvPr>
          <p:cNvSpPr/>
          <p:nvPr/>
        </p:nvSpPr>
        <p:spPr>
          <a:xfrm>
            <a:off x="216131" y="5047534"/>
            <a:ext cx="5372587" cy="303520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global Moran's I is significant at α = 0.05, indicating positive spatial autocorrelation and potential clustering in the dataset due to similar temperatures at the nearest locations.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5" name="Text 2"/>
          <p:cNvSpPr/>
          <p:nvPr/>
        </p:nvSpPr>
        <p:spPr>
          <a:xfrm>
            <a:off x="1428213" y="517032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Moran's I Plot</a:t>
            </a:r>
            <a:endParaRPr lang="en-US" sz="2187" b="1" dirty="0"/>
          </a:p>
        </p:txBody>
      </p:sp>
      <p:sp>
        <p:nvSpPr>
          <p:cNvPr id="6" name="Text 3"/>
          <p:cNvSpPr/>
          <p:nvPr/>
        </p:nvSpPr>
        <p:spPr>
          <a:xfrm>
            <a:off x="1337072" y="5561885"/>
            <a:ext cx="4800124" cy="2083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Positive spatial autocorrelation observed with a positive slope.
• Possible clusters in High-High and Low-Low areas.
• Possible spatial outliers in Low-High or High-Low areas.</a:t>
            </a:r>
            <a:endParaRPr lang="en-US" sz="2187" dirty="0"/>
          </a:p>
        </p:txBody>
      </p:sp>
      <p:sp>
        <p:nvSpPr>
          <p:cNvPr id="8" name="Text 4"/>
          <p:cNvSpPr/>
          <p:nvPr/>
        </p:nvSpPr>
        <p:spPr>
          <a:xfrm>
            <a:off x="7648022" y="518355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Boxplot and Q-Q plot</a:t>
            </a:r>
            <a:endParaRPr lang="en-US" sz="2187" b="1" dirty="0"/>
          </a:p>
        </p:txBody>
      </p:sp>
      <p:sp>
        <p:nvSpPr>
          <p:cNvPr id="9" name="Text 5"/>
          <p:cNvSpPr/>
          <p:nvPr/>
        </p:nvSpPr>
        <p:spPr>
          <a:xfrm>
            <a:off x="7648022" y="5561885"/>
            <a:ext cx="4800124" cy="2449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No outliers found in temperature boxplot.
• Distribution is symmetric and bell-shaped.
• Boxplot supports normality test.</a:t>
            </a:r>
          </a:p>
          <a:p>
            <a:pPr>
              <a:lnSpc>
                <a:spcPts val="2734"/>
              </a:lnSpc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• </a:t>
            </a:r>
            <a:r>
              <a:rPr lang="en-US" sz="2187" dirty="0">
                <a:solidFill>
                  <a:srgbClr val="38512F"/>
                </a:solidFill>
                <a:latin typeface="Lora" pitchFamily="34" charset="0"/>
              </a:rPr>
              <a:t>There are little deviations from the 45 degree line.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6E9EC35-1EE9-C1B4-2896-EF6B58642B19}"/>
              </a:ext>
            </a:extLst>
          </p:cNvPr>
          <p:cNvSpPr/>
          <p:nvPr/>
        </p:nvSpPr>
        <p:spPr>
          <a:xfrm>
            <a:off x="344821" y="324575"/>
            <a:ext cx="888182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Exploration and Visualization</a:t>
            </a:r>
            <a:endParaRPr lang="en-US" sz="4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7FED3F-D1E4-4314-19D4-C8E84B82D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278" y="1317195"/>
            <a:ext cx="6398279" cy="382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028D18-F786-60CA-6FC6-9D19D8E0A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42" y="1317194"/>
            <a:ext cx="6398279" cy="3866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5" name="Text 2"/>
          <p:cNvSpPr/>
          <p:nvPr/>
        </p:nvSpPr>
        <p:spPr>
          <a:xfrm>
            <a:off x="1208926" y="4463543"/>
            <a:ext cx="3775353" cy="335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46"/>
              </a:lnSpc>
              <a:buNone/>
            </a:pPr>
            <a:r>
              <a:rPr lang="en-US" sz="2116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Temperature Distribution plot</a:t>
            </a:r>
            <a:endParaRPr lang="en-US" sz="2116" b="1" dirty="0"/>
          </a:p>
        </p:txBody>
      </p:sp>
      <p:sp>
        <p:nvSpPr>
          <p:cNvPr id="6" name="Text 3"/>
          <p:cNvSpPr/>
          <p:nvPr/>
        </p:nvSpPr>
        <p:spPr>
          <a:xfrm>
            <a:off x="1208926" y="4923843"/>
            <a:ext cx="6034043" cy="33255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09"/>
              </a:lnSpc>
              <a:buNone/>
            </a:pPr>
            <a:r>
              <a:rPr lang="en-US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Temperature Distribution in North and South
• North experiences highest temperatures, South experiences lowest.
• East experiences moderate temperatures, West experiences highest.
• Cluster of high temperatures in North, possibly in Southeast.
• Possible outlier: black point with lowest temperature around blue and purple points with moderate temperatures.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953979" y="4463543"/>
            <a:ext cx="2687836" cy="335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46"/>
              </a:lnSpc>
              <a:buNone/>
            </a:pPr>
            <a:r>
              <a:rPr lang="en-US" sz="2116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Lisa plot</a:t>
            </a:r>
            <a:endParaRPr lang="en-US" sz="2116" b="1" dirty="0"/>
          </a:p>
        </p:txBody>
      </p:sp>
      <p:sp>
        <p:nvSpPr>
          <p:cNvPr id="9" name="Text 5"/>
          <p:cNvSpPr/>
          <p:nvPr/>
        </p:nvSpPr>
        <p:spPr>
          <a:xfrm>
            <a:off x="8153742" y="5060034"/>
            <a:ext cx="6034043" cy="2800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09"/>
              </a:lnSpc>
              <a:buNone/>
            </a:pPr>
            <a:r>
              <a:rPr lang="en-US" sz="1693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 </a:t>
            </a:r>
            <a:r>
              <a:rPr lang="en-US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Two clusters identified: High-High (</a:t>
            </a:r>
            <a:r>
              <a:rPr lang="en-US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hot spot</a:t>
            </a:r>
            <a:r>
              <a:rPr lang="en-US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) with highest temperatures, and Low-Low (</a:t>
            </a:r>
            <a:r>
              <a:rPr lang="en-US" b="1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cold spot</a:t>
            </a:r>
            <a:r>
              <a:rPr lang="en-US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) with lowest temperatures.
• Possible spatial outlier: Light-blue point around insignificant points.</a:t>
            </a:r>
            <a:endParaRPr lang="en-US" dirty="0"/>
          </a:p>
        </p:txBody>
      </p:sp>
      <p:pic>
        <p:nvPicPr>
          <p:cNvPr id="12" name="Picture 11" descr="A colorful dots on a white background&#10;&#10;Description automatically generated">
            <a:extLst>
              <a:ext uri="{FF2B5EF4-FFF2-40B4-BE49-F238E27FC236}">
                <a16:creationId xmlns:a16="http://schemas.microsoft.com/office/drawing/2014/main" id="{C6B52610-B96B-81B6-23FE-8DA832494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66" y="804103"/>
            <a:ext cx="6970362" cy="3659440"/>
          </a:xfrm>
          <a:prstGeom prst="rect">
            <a:avLst/>
          </a:prstGeom>
        </p:spPr>
      </p:pic>
      <p:pic>
        <p:nvPicPr>
          <p:cNvPr id="14" name="Picture 13" descr="A diagram of a number of dots&#10;&#10;Description automatically generated">
            <a:extLst>
              <a:ext uri="{FF2B5EF4-FFF2-40B4-BE49-F238E27FC236}">
                <a16:creationId xmlns:a16="http://schemas.microsoft.com/office/drawing/2014/main" id="{A4689302-88AD-4151-5E59-B2DFEC6B6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503" y="804103"/>
            <a:ext cx="6570522" cy="36594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E0CF1C-FD73-9110-3D94-A87B00030FD8}"/>
              </a:ext>
            </a:extLst>
          </p:cNvPr>
          <p:cNvSpPr txBox="1"/>
          <p:nvPr/>
        </p:nvSpPr>
        <p:spPr>
          <a:xfrm>
            <a:off x="802231" y="42257"/>
            <a:ext cx="8175514" cy="722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468"/>
              </a:lnSpc>
              <a:buNone/>
            </a:pPr>
            <a:r>
              <a:rPr lang="en-US" sz="3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Exploration and Visualization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785597" y="494466"/>
            <a:ext cx="707838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Trend Surface Model (TSM)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85597" y="1906369"/>
            <a:ext cx="993350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 The model aims to predict response variables using the coordinates of a location, specifically longitude and latitude.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85596" y="3060026"/>
            <a:ext cx="10735844" cy="10547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 We will consider possible p values of 1, 2, 3, and 4 to determine the best model using metrics like Akaike Information Criteria AIC and Adjusted R-squared.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85596" y="4488358"/>
            <a:ext cx="10619466" cy="24610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Selection for Australian Temperature Pattern Analysis:
• 3rd order chosen due to high adj.R2 and low AIC.
• 4th order also has high adj.R2 and lowest AIC, but difference isn't significant.
• Decision based on number of parameters to be estimated, affecting prediction precision.
• 3rd order chosen due to lower number of parameters.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3691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515302" y="287156"/>
            <a:ext cx="707838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Trend Surface Model (TSM)</a:t>
            </a:r>
            <a:endParaRPr lang="en-US" sz="4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32" y="1662625"/>
            <a:ext cx="6051659" cy="31741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7232" y="4836758"/>
            <a:ext cx="333291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3D plot (p = 3)</a:t>
            </a:r>
            <a:endParaRPr lang="en-US" sz="2624" dirty="0"/>
          </a:p>
        </p:txBody>
      </p:sp>
      <p:sp>
        <p:nvSpPr>
          <p:cNvPr id="7" name="Text 4"/>
          <p:cNvSpPr/>
          <p:nvPr/>
        </p:nvSpPr>
        <p:spPr>
          <a:xfrm>
            <a:off x="1267231" y="5364642"/>
            <a:ext cx="5436973" cy="2224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figure displays a 3-dimensional plot illustrating the cubic relationship between longitude, latitude, and temperature, along with a contour plot for easier interpretation.</a:t>
            </a:r>
            <a:endParaRPr lang="en-US" sz="2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046" y="1662625"/>
            <a:ext cx="6966244" cy="31458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93687" y="4836757"/>
            <a:ext cx="3332917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Contour plot</a:t>
            </a:r>
            <a:endParaRPr lang="en-US" sz="2624" dirty="0"/>
          </a:p>
        </p:txBody>
      </p:sp>
      <p:sp>
        <p:nvSpPr>
          <p:cNvPr id="10" name="Text 6"/>
          <p:cNvSpPr/>
          <p:nvPr/>
        </p:nvSpPr>
        <p:spPr>
          <a:xfrm>
            <a:off x="7511046" y="5433578"/>
            <a:ext cx="5436972" cy="17984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study reveals that the highest temperature is at longitude 130 and latitude -20, while the coolest is at longitude 120 and latitude -40.</a:t>
            </a:r>
            <a:endParaRPr lang="en-US"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486338" y="355520"/>
            <a:ext cx="873525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Inverse Distance Weighting (IDW)</a:t>
            </a:r>
            <a:endParaRPr lang="en-US" sz="4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38" y="2473999"/>
            <a:ext cx="6550376" cy="44415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3687" y="2126813"/>
            <a:ext cx="469570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endParaRPr lang="en-US" sz="4374" dirty="0"/>
          </a:p>
        </p:txBody>
      </p:sp>
      <p:sp>
        <p:nvSpPr>
          <p:cNvPr id="7" name="Text 4"/>
          <p:cNvSpPr/>
          <p:nvPr/>
        </p:nvSpPr>
        <p:spPr>
          <a:xfrm>
            <a:off x="7523052" y="2346326"/>
            <a:ext cx="5527930" cy="2318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 The variance plot for interpolated points is empty due to IDW being a mathematical relation without random component, unlike kriging models.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523052" y="4664869"/>
            <a:ext cx="5656800" cy="2833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Prediction for 30000 Points shows:
• Southeast part (black and blue) shows low temperatures (12.67-21.78).
• Northern part experiences increased temperatures (26.34-35.46).
• Center of study area shows moderate temperatures (21.78-26.34).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1152405" y="444341"/>
            <a:ext cx="55549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Kriging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1152404" y="2258593"/>
            <a:ext cx="3785355" cy="4487250"/>
          </a:xfrm>
          <a:prstGeom prst="roundRect">
            <a:avLst>
              <a:gd name="adj" fmla="val 2107"/>
            </a:avLst>
          </a:prstGeom>
          <a:solidFill>
            <a:srgbClr val="F6E9D5"/>
          </a:solidFill>
          <a:ln/>
        </p:spPr>
      </p:sp>
      <p:sp>
        <p:nvSpPr>
          <p:cNvPr id="6" name="Text 4"/>
          <p:cNvSpPr/>
          <p:nvPr/>
        </p:nvSpPr>
        <p:spPr>
          <a:xfrm>
            <a:off x="2570559" y="2844641"/>
            <a:ext cx="271867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1374575" y="2436293"/>
            <a:ext cx="3413556" cy="41307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 Compute distances and weights for variogram investigation.
• Choose optimal variogram parametric model for dataset.
• Plot variogram cloud for variogram cloud investigation.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188624" y="2258593"/>
            <a:ext cx="3429033" cy="4487250"/>
          </a:xfrm>
          <a:prstGeom prst="roundRect">
            <a:avLst>
              <a:gd name="adj" fmla="val 2107"/>
            </a:avLst>
          </a:prstGeom>
          <a:solidFill>
            <a:srgbClr val="F6E9D5"/>
          </a:solidFill>
          <a:ln/>
        </p:spPr>
      </p:sp>
      <p:sp>
        <p:nvSpPr>
          <p:cNvPr id="9" name="Text 7"/>
          <p:cNvSpPr/>
          <p:nvPr/>
        </p:nvSpPr>
        <p:spPr>
          <a:xfrm>
            <a:off x="5955744" y="2844641"/>
            <a:ext cx="271867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5219297" y="2441927"/>
            <a:ext cx="3269610" cy="4303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boxplot indicates no outliers, but LISA plot indicates to some outliers, so we will use both </a:t>
            </a:r>
            <a:r>
              <a:rPr lang="en-US" sz="2500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Matheron</a:t>
            </a: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</a:t>
            </a:r>
            <a:r>
              <a:rPr lang="en-US" sz="2500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Cressie</a:t>
            </a: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-Hawkins to show the difference and detect which fits the data well  and  estimating the variogram. 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8868521" y="2258592"/>
            <a:ext cx="3550693" cy="4487249"/>
          </a:xfrm>
          <a:prstGeom prst="roundRect">
            <a:avLst>
              <a:gd name="adj" fmla="val 2107"/>
            </a:avLst>
          </a:prstGeom>
          <a:solidFill>
            <a:srgbClr val="F6E9D5"/>
          </a:solidFill>
          <a:ln/>
        </p:spPr>
      </p:sp>
      <p:sp>
        <p:nvSpPr>
          <p:cNvPr id="12" name="Text 10"/>
          <p:cNvSpPr/>
          <p:nvPr/>
        </p:nvSpPr>
        <p:spPr>
          <a:xfrm>
            <a:off x="9340929" y="2844641"/>
            <a:ext cx="271867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8981317" y="2419635"/>
            <a:ext cx="3303063" cy="3781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variogram plot aligns with both Gaussian and linear parametric models. To avoid confusion, we will use the error sum of squares attribute and select the best fitting model.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A02D844F-87DD-7179-CF7B-8421112CC3EE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F3CB4-4245-000B-4204-7C91FFB3214D}"/>
              </a:ext>
            </a:extLst>
          </p:cNvPr>
          <p:cNvSpPr txBox="1"/>
          <p:nvPr/>
        </p:nvSpPr>
        <p:spPr>
          <a:xfrm>
            <a:off x="464025" y="313899"/>
            <a:ext cx="9526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Lora" pitchFamily="2" charset="0"/>
              </a:rPr>
              <a:t>Matheron</a:t>
            </a:r>
            <a:r>
              <a:rPr lang="en-US" sz="2800" dirty="0">
                <a:latin typeface="Lora" pitchFamily="2" charset="0"/>
              </a:rPr>
              <a:t> vs </a:t>
            </a:r>
            <a:r>
              <a:rPr lang="en-US" sz="2800" dirty="0" err="1">
                <a:latin typeface="Lora" pitchFamily="2" charset="0"/>
              </a:rPr>
              <a:t>Cressie</a:t>
            </a:r>
            <a:r>
              <a:rPr lang="en-US" sz="2800" dirty="0">
                <a:latin typeface="Lora" pitchFamily="2" charset="0"/>
              </a:rPr>
              <a:t>-Hawkins estimation for Variogram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5E7CF-213C-3409-A8CC-C07D86F7C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25" y="1121092"/>
            <a:ext cx="6946709" cy="4542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629152-9955-FA48-85D7-25192F05A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983" y="1121092"/>
            <a:ext cx="6550927" cy="454272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A2168D-D154-DFB9-051A-1ADBBBD49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831975"/>
              </p:ext>
            </p:extLst>
          </p:nvPr>
        </p:nvGraphicFramePr>
        <p:xfrm>
          <a:off x="846160" y="6839091"/>
          <a:ext cx="7942998" cy="741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971499">
                  <a:extLst>
                    <a:ext uri="{9D8B030D-6E8A-4147-A177-3AD203B41FA5}">
                      <a16:colId xmlns:a16="http://schemas.microsoft.com/office/drawing/2014/main" val="3647923728"/>
                    </a:ext>
                  </a:extLst>
                </a:gridCol>
                <a:gridCol w="3971499">
                  <a:extLst>
                    <a:ext uri="{9D8B030D-6E8A-4147-A177-3AD203B41FA5}">
                      <a16:colId xmlns:a16="http://schemas.microsoft.com/office/drawing/2014/main" val="3106864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SSE of Gaussian using </a:t>
                      </a:r>
                      <a:r>
                        <a:rPr lang="en-US" dirty="0" err="1"/>
                        <a:t>Matheron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SSE of Gaussian using </a:t>
                      </a:r>
                      <a:r>
                        <a:rPr lang="en-US" dirty="0" err="1"/>
                        <a:t>Cressie</a:t>
                      </a:r>
                      <a:r>
                        <a:rPr lang="en-US" dirty="0"/>
                        <a:t>-Hawkins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79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39.6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116.16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1124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B7D9547-63AE-6211-4911-B1148B28D92E}"/>
              </a:ext>
            </a:extLst>
          </p:cNvPr>
          <p:cNvSpPr txBox="1"/>
          <p:nvPr/>
        </p:nvSpPr>
        <p:spPr>
          <a:xfrm>
            <a:off x="1473958" y="5800299"/>
            <a:ext cx="397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Gaussian fitting using </a:t>
            </a:r>
            <a:r>
              <a:rPr lang="en-US" b="1" dirty="0" err="1"/>
              <a:t>Matheron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A3E76-7B7F-D427-F903-742B955980B6}"/>
              </a:ext>
            </a:extLst>
          </p:cNvPr>
          <p:cNvSpPr txBox="1"/>
          <p:nvPr/>
        </p:nvSpPr>
        <p:spPr>
          <a:xfrm>
            <a:off x="8789158" y="5800299"/>
            <a:ext cx="380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Gaussian fitting using </a:t>
            </a:r>
            <a:r>
              <a:rPr lang="en-US" b="1" dirty="0" err="1"/>
              <a:t>Cressie</a:t>
            </a:r>
            <a:r>
              <a:rPr lang="en-US" b="1" dirty="0"/>
              <a:t>-Hawkins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845FC2-3C74-08EF-31A0-4C90F5800E2F}"/>
              </a:ext>
            </a:extLst>
          </p:cNvPr>
          <p:cNvSpPr txBox="1"/>
          <p:nvPr/>
        </p:nvSpPr>
        <p:spPr>
          <a:xfrm>
            <a:off x="9573903" y="6715372"/>
            <a:ext cx="42717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ora" pitchFamily="2" charset="0"/>
              </a:rPr>
              <a:t>The error sum of square is less in </a:t>
            </a:r>
            <a:r>
              <a:rPr lang="en-US" dirty="0" err="1">
                <a:latin typeface="Lora" pitchFamily="2" charset="0"/>
              </a:rPr>
              <a:t>Matheron</a:t>
            </a:r>
            <a:r>
              <a:rPr lang="en-US" dirty="0">
                <a:latin typeface="Lora" pitchFamily="2" charset="0"/>
              </a:rPr>
              <a:t> in spite of </a:t>
            </a:r>
            <a:r>
              <a:rPr lang="en-US" dirty="0" err="1">
                <a:latin typeface="Lora" pitchFamily="2" charset="0"/>
              </a:rPr>
              <a:t>Cressie</a:t>
            </a:r>
            <a:r>
              <a:rPr lang="en-US" dirty="0">
                <a:latin typeface="Lora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ora" pitchFamily="2" charset="0"/>
              </a:rPr>
              <a:t>So, we complete with </a:t>
            </a:r>
            <a:r>
              <a:rPr lang="en-US" dirty="0" err="1">
                <a:latin typeface="Lora" pitchFamily="2" charset="0"/>
              </a:rPr>
              <a:t>Matheron</a:t>
            </a:r>
            <a:r>
              <a:rPr lang="en-US" dirty="0">
                <a:latin typeface="Lora" pitchFamily="2" charset="0"/>
              </a:rPr>
              <a:t> using the Gaussian model. </a:t>
            </a:r>
          </a:p>
        </p:txBody>
      </p:sp>
    </p:spTree>
    <p:extLst>
      <p:ext uri="{BB962C8B-B14F-4D97-AF65-F5344CB8AC3E}">
        <p14:creationId xmlns:p14="http://schemas.microsoft.com/office/powerpoint/2010/main" val="298976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719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1147205" y="335161"/>
            <a:ext cx="5011936" cy="62650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933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Kriging</a:t>
            </a:r>
            <a:endParaRPr lang="en-US" sz="4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58" y="1039145"/>
            <a:ext cx="5055415" cy="438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6158" y="5419898"/>
            <a:ext cx="2787015" cy="375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0"/>
              </a:lnSpc>
              <a:buNone/>
            </a:pPr>
            <a:r>
              <a:rPr lang="en-US" sz="2368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Gaussian Fitting</a:t>
            </a:r>
            <a:endParaRPr lang="en-US" sz="2368" b="1" dirty="0"/>
          </a:p>
        </p:txBody>
      </p:sp>
      <p:sp>
        <p:nvSpPr>
          <p:cNvPr id="7" name="Text 4"/>
          <p:cNvSpPr/>
          <p:nvPr/>
        </p:nvSpPr>
        <p:spPr>
          <a:xfrm>
            <a:off x="866157" y="5795778"/>
            <a:ext cx="2787015" cy="1603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26"/>
              </a:lnSpc>
              <a:buNone/>
            </a:pPr>
            <a:r>
              <a:rPr lang="en-US" sz="157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Gaussian and linear models are the most accurate parametric models for the variogram, with the Gaussian model being more accurate than the linear model.</a:t>
            </a:r>
            <a:endParaRPr lang="en-US" sz="1579" dirty="0"/>
          </a:p>
        </p:txBody>
      </p:sp>
      <p:sp>
        <p:nvSpPr>
          <p:cNvPr id="9" name="Text 5"/>
          <p:cNvSpPr/>
          <p:nvPr/>
        </p:nvSpPr>
        <p:spPr>
          <a:xfrm>
            <a:off x="5921573" y="5414865"/>
            <a:ext cx="2787134" cy="375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0"/>
              </a:lnSpc>
              <a:buNone/>
            </a:pPr>
            <a:r>
              <a:rPr lang="en-US" sz="2368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Prediction map</a:t>
            </a:r>
            <a:endParaRPr lang="en-US" sz="2368" b="1" dirty="0"/>
          </a:p>
        </p:txBody>
      </p:sp>
      <p:sp>
        <p:nvSpPr>
          <p:cNvPr id="10" name="Text 6"/>
          <p:cNvSpPr/>
          <p:nvPr/>
        </p:nvSpPr>
        <p:spPr>
          <a:xfrm>
            <a:off x="5991841" y="5727155"/>
            <a:ext cx="3434791" cy="25660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26"/>
              </a:lnSpc>
              <a:buNone/>
            </a:pPr>
            <a:r>
              <a:rPr lang="en-US" sz="157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 Temperatures generally rise in North despite South.
• Identified 5 clusters, with Yellow cluster being the hotspot with highest temperatures.
• Dark blue or black cluster is the cold spot with lowest temperatures.</a:t>
            </a:r>
            <a:endParaRPr lang="en-US" sz="1579" dirty="0"/>
          </a:p>
        </p:txBody>
      </p:sp>
      <p:sp>
        <p:nvSpPr>
          <p:cNvPr id="12" name="Text 7"/>
          <p:cNvSpPr/>
          <p:nvPr/>
        </p:nvSpPr>
        <p:spPr>
          <a:xfrm>
            <a:off x="10325976" y="5419899"/>
            <a:ext cx="2787134" cy="37588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60"/>
              </a:lnSpc>
              <a:buNone/>
            </a:pPr>
            <a:r>
              <a:rPr lang="en-US" sz="2368" b="1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 error map</a:t>
            </a:r>
            <a:endParaRPr lang="en-US" sz="2368" b="1" dirty="0"/>
          </a:p>
        </p:txBody>
      </p:sp>
      <p:sp>
        <p:nvSpPr>
          <p:cNvPr id="13" name="Text 8"/>
          <p:cNvSpPr/>
          <p:nvPr/>
        </p:nvSpPr>
        <p:spPr>
          <a:xfrm>
            <a:off x="10329453" y="5991049"/>
            <a:ext cx="3434790" cy="1603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26"/>
              </a:lnSpc>
              <a:buNone/>
            </a:pPr>
            <a:r>
              <a:rPr lang="en-US" sz="1579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• Edges require more stations due to large standard errors.
• Center has low standard error.</a:t>
            </a:r>
            <a:endParaRPr lang="en-US" sz="1579" dirty="0"/>
          </a:p>
        </p:txBody>
      </p:sp>
      <p:pic>
        <p:nvPicPr>
          <p:cNvPr id="16" name="Picture 15" descr="A colorful background with text&#10;&#10;Description automatically generated with medium confidence">
            <a:extLst>
              <a:ext uri="{FF2B5EF4-FFF2-40B4-BE49-F238E27FC236}">
                <a16:creationId xmlns:a16="http://schemas.microsoft.com/office/drawing/2014/main" id="{A78D2ECD-2685-3F2F-6C47-D8BBB60BB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842" y="1039145"/>
            <a:ext cx="4263864" cy="4380754"/>
          </a:xfrm>
          <a:prstGeom prst="rect">
            <a:avLst/>
          </a:prstGeom>
        </p:spPr>
      </p:pic>
      <p:pic>
        <p:nvPicPr>
          <p:cNvPr id="18" name="Picture 17" descr="A blue and purple color scheme&#10;&#10;Description automatically generated with medium confidence">
            <a:extLst>
              <a:ext uri="{FF2B5EF4-FFF2-40B4-BE49-F238E27FC236}">
                <a16:creationId xmlns:a16="http://schemas.microsoft.com/office/drawing/2014/main" id="{F6B25870-EF6D-5806-1157-56DA43070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976" y="1039145"/>
            <a:ext cx="3938664" cy="43807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162444" y="321079"/>
            <a:ext cx="13778302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Geographical Weighted Regression Model (GWRM)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426011" y="1578354"/>
            <a:ext cx="2076807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Bandwidth &amp; Kernel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474464" y="2341697"/>
            <a:ext cx="2329432" cy="154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Fixed bandwidth of 2.19 with Gaussian kernel function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21254" y="1578354"/>
            <a:ext cx="2373116" cy="5629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Variation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3621254" y="2333886"/>
            <a:ext cx="2921166" cy="1467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17848" y="4356684"/>
            <a:ext cx="207680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Global Model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471206" y="4984281"/>
            <a:ext cx="3150048" cy="2058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global model's value is influenced by both positive and negative values, and on average, it doesn't accurately represent all data.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769409" y="4383866"/>
            <a:ext cx="207680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Slope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3769409" y="4928641"/>
            <a:ext cx="2773011" cy="1867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study indicates that </a:t>
            </a:r>
            <a:r>
              <a:rPr lang="en-US" sz="1600" dirty="0"/>
              <a:t>, in general, the value of R square is high in most areas, except for some border areas in the northeast.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81015" y="7208666"/>
            <a:ext cx="7878565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Acceptable prediction across regions, best in southeast</a:t>
            </a:r>
            <a:endParaRPr lang="en-US" sz="1750" dirty="0"/>
          </a:p>
        </p:txBody>
      </p:sp>
      <p:pic>
        <p:nvPicPr>
          <p:cNvPr id="16" name="Picture 15" descr="A close-up of several colored dots&#10;&#10;Description automatically generated">
            <a:extLst>
              <a:ext uri="{FF2B5EF4-FFF2-40B4-BE49-F238E27FC236}">
                <a16:creationId xmlns:a16="http://schemas.microsoft.com/office/drawing/2014/main" id="{83011AAB-A7F1-119B-67AB-A5953ACA7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25" y="1082681"/>
            <a:ext cx="5641894" cy="3365247"/>
          </a:xfrm>
          <a:prstGeom prst="rect">
            <a:avLst/>
          </a:prstGeom>
        </p:spPr>
      </p:pic>
      <p:pic>
        <p:nvPicPr>
          <p:cNvPr id="18" name="Picture 17" descr="A close-up of a colorful dot&#10;&#10;Description automatically generated">
            <a:extLst>
              <a:ext uri="{FF2B5EF4-FFF2-40B4-BE49-F238E27FC236}">
                <a16:creationId xmlns:a16="http://schemas.microsoft.com/office/drawing/2014/main" id="{A8FECC3C-9CF8-9666-A131-01B851181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156" y="4520938"/>
            <a:ext cx="5641894" cy="3495675"/>
          </a:xfrm>
          <a:prstGeom prst="rect">
            <a:avLst/>
          </a:prstGeom>
        </p:spPr>
      </p:pic>
      <p:sp>
        <p:nvSpPr>
          <p:cNvPr id="19" name="Text 3">
            <a:extLst>
              <a:ext uri="{FF2B5EF4-FFF2-40B4-BE49-F238E27FC236}">
                <a16:creationId xmlns:a16="http://schemas.microsoft.com/office/drawing/2014/main" id="{A9AF4F8F-62BD-552D-5632-886012EDF54F}"/>
              </a:ext>
            </a:extLst>
          </p:cNvPr>
          <p:cNvSpPr/>
          <p:nvPr/>
        </p:nvSpPr>
        <p:spPr>
          <a:xfrm rot="16200000">
            <a:off x="6977687" y="2574406"/>
            <a:ext cx="3178277" cy="3862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60"/>
              </a:lnSpc>
              <a:buNone/>
            </a:pPr>
            <a:r>
              <a:rPr lang="en-US" sz="2368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slope :elevation</a:t>
            </a:r>
            <a:endParaRPr lang="en-US" sz="2368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D6D8B5B8-36C7-DD08-10B8-45A2593E4F7F}"/>
              </a:ext>
            </a:extLst>
          </p:cNvPr>
          <p:cNvSpPr/>
          <p:nvPr/>
        </p:nvSpPr>
        <p:spPr>
          <a:xfrm rot="16200000">
            <a:off x="6977686" y="5604088"/>
            <a:ext cx="3178277" cy="3862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60"/>
              </a:lnSpc>
              <a:buNone/>
            </a:pPr>
            <a:r>
              <a:rPr lang="en-US" sz="2368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R-Squared</a:t>
            </a:r>
            <a:endParaRPr lang="en-US" sz="2368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39B139F-41F6-18FA-3A07-4EA85ECA6F7D}"/>
              </a:ext>
            </a:extLst>
          </p:cNvPr>
          <p:cNvSpPr/>
          <p:nvPr/>
        </p:nvSpPr>
        <p:spPr>
          <a:xfrm>
            <a:off x="3500947" y="2141257"/>
            <a:ext cx="3866447" cy="2097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799"/>
              </a:lnSpc>
            </a:pPr>
            <a:r>
              <a:rPr lang="en-US" sz="1600" dirty="0"/>
              <a:t>In most regions, the effect of elevation is negative and weak, except for the border areas in the northeast and southwest, the effect is positive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D9317DC1-FEC0-BB50-8E26-D42DA792738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2359C9-3E30-197D-8935-E48F1BA31454}"/>
              </a:ext>
            </a:extLst>
          </p:cNvPr>
          <p:cNvSpPr txBox="1"/>
          <p:nvPr/>
        </p:nvSpPr>
        <p:spPr>
          <a:xfrm>
            <a:off x="341194" y="272955"/>
            <a:ext cx="13279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Lora" pitchFamily="2" charset="0"/>
              </a:rPr>
              <a:t>Significance of the elevation in each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0A472-B8D4-AFDA-99F5-52AD56ED9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47" y="1211617"/>
            <a:ext cx="12255689" cy="4834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A4A74-88C3-52B8-D74A-2A7B4FDFAB32}"/>
              </a:ext>
            </a:extLst>
          </p:cNvPr>
          <p:cNvSpPr txBox="1"/>
          <p:nvPr/>
        </p:nvSpPr>
        <p:spPr>
          <a:xfrm>
            <a:off x="928047" y="6168788"/>
            <a:ext cx="12255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/>
            <a:r>
              <a:rPr lang="en-US" sz="2400" dirty="0">
                <a:effectLst/>
                <a:latin typeface="Lora" pitchFamily="2" charset="0"/>
                <a:ea typeface="Calibri" panose="020F0502020204030204" pitchFamily="34" charset="0"/>
              </a:rPr>
              <a:t>we can see that only ten locations have significant elevation in spite of the other locations and also, the more elevation increases, the more the points tend to be significant.</a:t>
            </a:r>
            <a:endParaRPr lang="en-US" sz="2400" dirty="0"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470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322480" y="250442"/>
            <a:ext cx="9933503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5468"/>
              </a:lnSpc>
            </a:pPr>
            <a:r>
              <a:rPr lang="en-US" sz="4500" dirty="0">
                <a:solidFill>
                  <a:srgbClr val="38512F"/>
                </a:solidFill>
                <a:latin typeface="Lora" pitchFamily="34" charset="0"/>
              </a:rPr>
              <a:t>Conclusion &amp; Recommendations</a:t>
            </a:r>
          </a:p>
        </p:txBody>
      </p:sp>
      <p:sp>
        <p:nvSpPr>
          <p:cNvPr id="5" name="Shape 3"/>
          <p:cNvSpPr/>
          <p:nvPr/>
        </p:nvSpPr>
        <p:spPr>
          <a:xfrm>
            <a:off x="858895" y="2165627"/>
            <a:ext cx="3793785" cy="4501179"/>
          </a:xfrm>
          <a:prstGeom prst="roundRect">
            <a:avLst>
              <a:gd name="adj" fmla="val 2107"/>
            </a:avLst>
          </a:prstGeom>
          <a:solidFill>
            <a:srgbClr val="F6E9D5"/>
          </a:solidFill>
          <a:ln/>
        </p:spPr>
      </p:sp>
      <p:sp>
        <p:nvSpPr>
          <p:cNvPr id="6" name="Text 4"/>
          <p:cNvSpPr/>
          <p:nvPr/>
        </p:nvSpPr>
        <p:spPr>
          <a:xfrm>
            <a:off x="1124654" y="2336362"/>
            <a:ext cx="2718673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Hot North</a:t>
            </a:r>
            <a:endParaRPr lang="en-US" sz="2624" dirty="0"/>
          </a:p>
        </p:txBody>
      </p:sp>
      <p:sp>
        <p:nvSpPr>
          <p:cNvPr id="7" name="Text 5"/>
          <p:cNvSpPr/>
          <p:nvPr/>
        </p:nvSpPr>
        <p:spPr>
          <a:xfrm>
            <a:off x="1124654" y="3048595"/>
            <a:ext cx="3380723" cy="3269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study uses IDW and kriging to predict temperature in the northern part of the area, with high values in the middle and cool weather in the southern part.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398595" y="2165628"/>
            <a:ext cx="3485791" cy="4501178"/>
          </a:xfrm>
          <a:prstGeom prst="roundRect">
            <a:avLst>
              <a:gd name="adj" fmla="val 2107"/>
            </a:avLst>
          </a:prstGeom>
          <a:solidFill>
            <a:srgbClr val="F6E9D5"/>
          </a:solidFill>
          <a:ln/>
        </p:spPr>
      </p:sp>
      <p:sp>
        <p:nvSpPr>
          <p:cNvPr id="9" name="Text 7"/>
          <p:cNvSpPr/>
          <p:nvPr/>
        </p:nvSpPr>
        <p:spPr>
          <a:xfrm>
            <a:off x="5410795" y="2215634"/>
            <a:ext cx="3485791" cy="8329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Inaccurate Boundary</a:t>
            </a:r>
            <a:endParaRPr lang="en-US" sz="2624" dirty="0"/>
          </a:p>
        </p:txBody>
      </p:sp>
      <p:sp>
        <p:nvSpPr>
          <p:cNvPr id="10" name="Text 8"/>
          <p:cNvSpPr/>
          <p:nvPr/>
        </p:nvSpPr>
        <p:spPr>
          <a:xfrm>
            <a:off x="5503917" y="3048595"/>
            <a:ext cx="3380469" cy="3269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study's temperature prediction for the outskirts is inaccurate, with errors increasing as the area's boundaries are approached, unlike the middle part with the lowest error.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9441535" y="2165626"/>
            <a:ext cx="3793784" cy="4501179"/>
          </a:xfrm>
          <a:prstGeom prst="roundRect">
            <a:avLst>
              <a:gd name="adj" fmla="val 2107"/>
            </a:avLst>
          </a:prstGeom>
          <a:solidFill>
            <a:srgbClr val="F6E9D5"/>
          </a:solidFill>
          <a:ln/>
        </p:spPr>
      </p:sp>
      <p:sp>
        <p:nvSpPr>
          <p:cNvPr id="12" name="Text 10"/>
          <p:cNvSpPr/>
          <p:nvPr/>
        </p:nvSpPr>
        <p:spPr>
          <a:xfrm>
            <a:off x="9611229" y="2215634"/>
            <a:ext cx="2718673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281"/>
              </a:lnSpc>
              <a:buNone/>
            </a:pPr>
            <a:r>
              <a:rPr lang="en-US" sz="2624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More Stations</a:t>
            </a:r>
            <a:endParaRPr lang="en-US" sz="2624" dirty="0"/>
          </a:p>
        </p:txBody>
      </p:sp>
      <p:sp>
        <p:nvSpPr>
          <p:cNvPr id="13" name="Text 11"/>
          <p:cNvSpPr/>
          <p:nvPr/>
        </p:nvSpPr>
        <p:spPr>
          <a:xfrm>
            <a:off x="9611228" y="2947991"/>
            <a:ext cx="3489630" cy="3369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study shows low R-squared in the eastern part, suggesting the need for more border stations for better temperature prediction accuracy, and no need for middle stations.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07D301-6434-7F14-B5AD-34BD5A9C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62127D-33E7-191B-D035-7703FBD8D995}"/>
              </a:ext>
            </a:extLst>
          </p:cNvPr>
          <p:cNvSpPr txBox="1"/>
          <p:nvPr/>
        </p:nvSpPr>
        <p:spPr>
          <a:xfrm>
            <a:off x="4326342" y="6389455"/>
            <a:ext cx="46811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Lora" pitchFamily="2" charset="0"/>
              </a:rPr>
              <a:t>To Dr Sara 🥰  </a:t>
            </a:r>
          </a:p>
          <a:p>
            <a:r>
              <a:rPr lang="en-US" sz="4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B026B-2AEB-BB00-AD50-CC153B16F0EB}"/>
              </a:ext>
            </a:extLst>
          </p:cNvPr>
          <p:cNvSpPr txBox="1"/>
          <p:nvPr/>
        </p:nvSpPr>
        <p:spPr>
          <a:xfrm>
            <a:off x="4539245" y="778315"/>
            <a:ext cx="68375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Thank you from: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F77979-8E5B-8A87-848E-CDAA4C62AAD2}"/>
              </a:ext>
            </a:extLst>
          </p:cNvPr>
          <p:cNvSpPr txBox="1"/>
          <p:nvPr/>
        </p:nvSpPr>
        <p:spPr>
          <a:xfrm>
            <a:off x="887104" y="3572411"/>
            <a:ext cx="310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Mohamed Walid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6EB24-F7C1-94D5-528C-79AA0B04C4AD}"/>
              </a:ext>
            </a:extLst>
          </p:cNvPr>
          <p:cNvSpPr txBox="1"/>
          <p:nvPr/>
        </p:nvSpPr>
        <p:spPr>
          <a:xfrm>
            <a:off x="5172501" y="3572411"/>
            <a:ext cx="3534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Mohamed Khaled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77944A-AC2B-3644-E5F3-3DFC87CE28AE}"/>
              </a:ext>
            </a:extLst>
          </p:cNvPr>
          <p:cNvSpPr txBox="1"/>
          <p:nvPr/>
        </p:nvSpPr>
        <p:spPr>
          <a:xfrm>
            <a:off x="9882034" y="3575137"/>
            <a:ext cx="3534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Hassan Ehab</a:t>
            </a:r>
          </a:p>
        </p:txBody>
      </p:sp>
    </p:spTree>
    <p:extLst>
      <p:ext uri="{BB962C8B-B14F-4D97-AF65-F5344CB8AC3E}">
        <p14:creationId xmlns:p14="http://schemas.microsoft.com/office/powerpoint/2010/main" val="3463960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1191</Words>
  <Application>Microsoft Office PowerPoint</Application>
  <PresentationFormat>Custom</PresentationFormat>
  <Paragraphs>130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Lora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وليد محمد رمضان</cp:lastModifiedBy>
  <cp:revision>23</cp:revision>
  <dcterms:created xsi:type="dcterms:W3CDTF">2024-05-09T21:44:50Z</dcterms:created>
  <dcterms:modified xsi:type="dcterms:W3CDTF">2024-09-14T21:36:09Z</dcterms:modified>
</cp:coreProperties>
</file>